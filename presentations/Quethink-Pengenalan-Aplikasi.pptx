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e47b9d3cbb431f" /><Relationship Type="http://schemas.openxmlformats.org/officeDocument/2006/relationships/extended-properties" Target="/docProps/app.xml" Id="Rd56d66fc2ca34455" /><Relationship Type="http://schemas.openxmlformats.org/officeDocument/2006/relationships/officeDocument" Target="/ppt/presentation.xml" Id="R40090d0b0e2f41fc" /></Relationships>
</file>

<file path=ppt/presentation.xml><?xml version="1.0" encoding="utf-8"?>
<p:presentation xmlns:p="http://schemas.openxmlformats.org/presentationml/2006/main">
  <p:sldMasterIdLst>
    <p:sldMasterId xmlns:r="http://schemas.openxmlformats.org/officeDocument/2006/relationships" id="2147483648" r:id="Ra77fff22c94540ba"/>
  </p:sldMasterIdLst>
  <p:notesMasterIdLst>
    <p:notesMasterId xmlns:r="http://schemas.openxmlformats.org/officeDocument/2006/relationships" r:id="Rc67b35225061453d"/>
  </p:notesMasterIdLst>
  <p:sldIdLst>
    <p:sldId xmlns:r="http://schemas.openxmlformats.org/officeDocument/2006/relationships" id="256" r:id="R45814af004724cf6"/>
    <p:sldId xmlns:r="http://schemas.openxmlformats.org/officeDocument/2006/relationships" id="257" r:id="Rb8c42cf65121435d"/>
    <p:sldId xmlns:r="http://schemas.openxmlformats.org/officeDocument/2006/relationships" id="258" r:id="R1c4accdaec724f2a"/>
    <p:sldId xmlns:r="http://schemas.openxmlformats.org/officeDocument/2006/relationships" id="259" r:id="R4c32e506dc284032"/>
    <p:sldId xmlns:r="http://schemas.openxmlformats.org/officeDocument/2006/relationships" id="260" r:id="Re2fd56bb0fdd4404"/>
    <p:sldId xmlns:r="http://schemas.openxmlformats.org/officeDocument/2006/relationships" id="261" r:id="Re279a8f6f20e4e07"/>
    <p:sldId xmlns:r="http://schemas.openxmlformats.org/officeDocument/2006/relationships" id="262" r:id="Rcd8a00576bcb4b33"/>
    <p:sldId xmlns:r="http://schemas.openxmlformats.org/officeDocument/2006/relationships" id="263" r:id="R6a34adeb8a184d19"/>
    <p:sldId xmlns:r="http://schemas.openxmlformats.org/officeDocument/2006/relationships" id="264" r:id="Rde9b661cfe6f4f05"/>
    <p:sldId xmlns:r="http://schemas.openxmlformats.org/officeDocument/2006/relationships" id="265" r:id="R0500d7b6e22d4558"/>
    <p:sldId xmlns:r="http://schemas.openxmlformats.org/officeDocument/2006/relationships" id="266" r:id="Ra00bf73b8f7b4a3f"/>
    <p:sldId xmlns:r="http://schemas.openxmlformats.org/officeDocument/2006/relationships" id="267" r:id="R1f42d82e634c42af"/>
    <p:sldId xmlns:r="http://schemas.openxmlformats.org/officeDocument/2006/relationships" id="268" r:id="R94f9a4cde72548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408cae9cd54729" /><Relationship Type="http://schemas.openxmlformats.org/officeDocument/2006/relationships/slideMaster" Target="/ppt/slideMasters/slideMaster1.xml" Id="Ra77fff22c94540ba" /><Relationship Type="http://schemas.openxmlformats.org/officeDocument/2006/relationships/notesMaster" Target="/ppt/notesMasters/notesMaster1.xml" Id="Rc67b35225061453d" /><Relationship Type="http://schemas.openxmlformats.org/officeDocument/2006/relationships/presProps" Target="/ppt/presProps.xml" Id="R46f4c3cc6d254581" /><Relationship Type="http://schemas.openxmlformats.org/officeDocument/2006/relationships/tableStyles" Target="/ppt/tableStyles.xml" Id="R671fd5178ecc4b13" /><Relationship Type="http://schemas.openxmlformats.org/officeDocument/2006/relationships/slide" Target="/ppt/slides/slide1.xml" Id="R45814af004724cf6" /><Relationship Type="http://schemas.openxmlformats.org/officeDocument/2006/relationships/slide" Target="/ppt/slides/slide2.xml" Id="Rb8c42cf65121435d" /><Relationship Type="http://schemas.openxmlformats.org/officeDocument/2006/relationships/slide" Target="/ppt/slides/slide3.xml" Id="R1c4accdaec724f2a" /><Relationship Type="http://schemas.openxmlformats.org/officeDocument/2006/relationships/slide" Target="/ppt/slides/slide4.xml" Id="R4c32e506dc284032" /><Relationship Type="http://schemas.openxmlformats.org/officeDocument/2006/relationships/slide" Target="/ppt/slides/slide5.xml" Id="Re2fd56bb0fdd4404" /><Relationship Type="http://schemas.openxmlformats.org/officeDocument/2006/relationships/slide" Target="/ppt/slides/slide6.xml" Id="Re279a8f6f20e4e07" /><Relationship Type="http://schemas.openxmlformats.org/officeDocument/2006/relationships/slide" Target="/ppt/slides/slide7.xml" Id="Rcd8a00576bcb4b33" /><Relationship Type="http://schemas.openxmlformats.org/officeDocument/2006/relationships/slide" Target="/ppt/slides/slide8.xml" Id="R6a34adeb8a184d19" /><Relationship Type="http://schemas.openxmlformats.org/officeDocument/2006/relationships/slide" Target="/ppt/slides/slide9.xml" Id="Rde9b661cfe6f4f05" /><Relationship Type="http://schemas.openxmlformats.org/officeDocument/2006/relationships/slide" Target="/ppt/slides/slide10.xml" Id="R0500d7b6e22d4558" /><Relationship Type="http://schemas.openxmlformats.org/officeDocument/2006/relationships/slide" Target="/ppt/slides/slide11.xml" Id="Ra00bf73b8f7b4a3f" /><Relationship Type="http://schemas.openxmlformats.org/officeDocument/2006/relationships/slide" Target="/ppt/slides/slide12.xml" Id="R1f42d82e634c42af" /><Relationship Type="http://schemas.openxmlformats.org/officeDocument/2006/relationships/slide" Target="/ppt/slides/slide13.xml" Id="R94f9a4cde72548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2fae397bc046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4f7e31c8da49c2" /><Relationship Type="http://schemas.openxmlformats.org/officeDocument/2006/relationships/notesMaster" Target="/ppt/notesMasters/notesMaster1.xml" Id="Rd9f3a94859914e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fab1a0d25e43dc" /><Relationship Type="http://schemas.openxmlformats.org/officeDocument/2006/relationships/notesMaster" Target="/ppt/notesMasters/notesMaster1.xml" Id="R3adad48ed05440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6e9dd526b34ae3" /><Relationship Type="http://schemas.openxmlformats.org/officeDocument/2006/relationships/notesMaster" Target="/ppt/notesMasters/notesMaster1.xml" Id="Rcfb7894f33b042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50a10f95d945f3" /><Relationship Type="http://schemas.openxmlformats.org/officeDocument/2006/relationships/notesMaster" Target="/ppt/notesMasters/notesMaster1.xml" Id="Re10c3346453549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d9da1c82dc4d19" /><Relationship Type="http://schemas.openxmlformats.org/officeDocument/2006/relationships/notesMaster" Target="/ppt/notesMasters/notesMaster1.xml" Id="Rf168219e682a47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cc1e9fd306490c" /><Relationship Type="http://schemas.openxmlformats.org/officeDocument/2006/relationships/notesMaster" Target="/ppt/notesMasters/notesMaster1.xml" Id="Rf492643d5da147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914c71da4c4bb9" /><Relationship Type="http://schemas.openxmlformats.org/officeDocument/2006/relationships/notesMaster" Target="/ppt/notesMasters/notesMaster1.xml" Id="R6860841aa5da4b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6ff73f0d3c4f9a" /><Relationship Type="http://schemas.openxmlformats.org/officeDocument/2006/relationships/notesMaster" Target="/ppt/notesMasters/notesMaster1.xml" Id="Ra749c5ef3a5145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8f2903c0894165" /><Relationship Type="http://schemas.openxmlformats.org/officeDocument/2006/relationships/notesMaster" Target="/ppt/notesMasters/notesMaster1.xml" Id="R2c42ba68917d47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9f884544104e16" /><Relationship Type="http://schemas.openxmlformats.org/officeDocument/2006/relationships/notesMaster" Target="/ppt/notesMasters/notesMaster1.xml" Id="R1c9ef03639f94d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b4194dc1bf4b6d" /><Relationship Type="http://schemas.openxmlformats.org/officeDocument/2006/relationships/notesMaster" Target="/ppt/notesMasters/notesMaster1.xml" Id="Ra451d0c0665c4f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68742e52a143d4" /><Relationship Type="http://schemas.openxmlformats.org/officeDocument/2006/relationships/notesMaster" Target="/ppt/notesMasters/notesMaster1.xml" Id="R3b808807970844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3c7cf6b9df421a" /><Relationship Type="http://schemas.openxmlformats.org/officeDocument/2006/relationships/notesMaster" Target="/ppt/notesMasters/notesMaster1.xml" Id="R5438323ba7fb49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Quethink merupakan platform belajar basis data untuk mahasiswa yang baru mengenal SQL. Platform ini menghubungkan materi bacaan dengan pengamatan tabel, visualisasi relasi, dan praktik query. Presentasi ini memperkenalkan pengalaman belajar serta fitur yang sudah tersedia.</a:t>
            </a:r>
          </a:p>
          <a:p xmlns:a="http://schemas.openxmlformats.org/drawingml/2006/main">
            <a:r>
              <a:t/>
            </a:r>
          </a:p>
          <a:p xmlns:a="http://schemas.openxmlformats.org/drawingml/2006/main">
            <a:r>
              <a:t>Sumber: docs/00-PROJECT_OVERVIEW.md, docs/01-PRD.md.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Ketiga kebutuhan ini menjadi dasar rancangan produk. Jangan menyampaikan slide ini sebagai hasil survei atau bukti efektivitas yang sudah terukur. Contoh UPDATE memperlihatkan bahwa perintah SQL memiliki target dan dampak yang dapat diperiksa. Quethink menyediakan ruang untuk mengamati dampak tersebut menggunakan data sintetis.</a:t>
            </a:r>
          </a:p>
          <a:p xmlns:a="http://schemas.openxmlformats.org/drawingml/2006/main">
            <a:r>
              <a:t/>
            </a:r>
          </a:p>
          <a:p xmlns:a="http://schemas.openxmlformats.org/drawingml/2006/main">
            <a:r>
              <a:t>Sumber: docs/01-PRD.md, docs/04-CURRICULUM.md.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contoh katalog buku. Mahasiswa melihat kolom judul dan stok, memperkirakan buku yang masih tersedia, lalu menjalankan query SELECT dengan WHERE. Hasilnya dapat dibandingkan dengan prediksi. Proses ini menghubungkan sintaks dengan makna data. Visual yang ditampilkan merupakan contoh penjelasan, bukan rekaman query yang baru saja dijalankan.</a:t>
            </a:r>
          </a:p>
          <a:p xmlns:a="http://schemas.openxmlformats.org/drawingml/2006/main">
            <a:r>
              <a:t/>
            </a:r>
          </a:p>
          <a:p xmlns:a="http://schemas.openxmlformats.org/drawingml/2006/main">
            <a:r>
              <a:t>Sumber: docs/04-CURRICULUM.md, public/assets/quethink/query-filter.svg.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Alur ini berlaku untuk pengguna dengan akun. Pengguna mengikuti pre-test, kemudian membaca materi dan menyelesaikan Lab inti yang berpasangan. Setelah syarat tersebut terpenuhi, server membuka materi berikutnya. Post-test terbuka setelah seluruh materi wajib selesai. Mode tamu membuka konten untuk demonstrasi tanpa menyimpan progres dan tanpa urutan wajib.</a:t>
            </a:r>
          </a:p>
          <a:p xmlns:a="http://schemas.openxmlformats.org/drawingml/2006/main">
            <a:r>
              <a:t/>
            </a:r>
          </a:p>
          <a:p xmlns:a="http://schemas.openxmlformats.org/drawingml/2006/main">
            <a:r>
              <a:t>Sumber: docs/03-LEARNING_SYSTEM.md, docs/AGENTS.md.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Urutan belajar adalah Relasi, Read, kemudian Write. Mahasiswa memahami model data lebih dahulu dan belajar memilih target sebelum mengubah data. Ada sebelas materi dalam satu daftar bernomor tanpa halaman submateri terpisah. Judul pada slide ini diringkas agar mudah dibaca, dengan cakupan yang sama dengan materi terpublikasi.</a:t>
            </a:r>
          </a:p>
          <a:p xmlns:a="http://schemas.openxmlformats.org/drawingml/2006/main">
            <a:r>
              <a:t/>
            </a:r>
          </a:p>
          <a:p xmlns:a="http://schemas.openxmlformats.org/drawingml/2006/main">
            <a:r>
              <a:t>Sumber: docs/04-CURRICULUM.md, katalog materi terpublikasi pada 7 Oktober 2026.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Halaman materi berfokus pada bacaan. Latihan interaktif berada pada halaman Lab yang terpisah sehingga mahasiswa dapat membaca dengan tenang. PDF tersedia untuk mengulang materi. Video merupakan dukungan opsional pada materi tertentu, bukan janji bahwa seluruh materi memiliki video. Screenshot menunjukkan halaman materi terpublikasi pada mode tamu.</a:t>
            </a:r>
          </a:p>
          <a:p xmlns:a="http://schemas.openxmlformats.org/drawingml/2006/main">
            <a:r>
              <a:t/>
            </a:r>
          </a:p>
          <a:p xmlns:a="http://schemas.openxmlformats.org/drawingml/2006/main">
            <a:r>
              <a:t>Sumber: docs/01-PRD.md, docs/10-DESIGN_SYSTEM.md.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menyediakan diagram relasi, data tabel, prediksi, query, dan hasil. Mahasiswa dapat mencoba kembali ketika jawabannya belum tepat. Satu latihan inti wajib mengontrol ketuntasan setiap materi. Visualizer membantu membaca model dan perubahan data, bukan menampilkan rencana eksekusi fisik database. Data praktik bersifat sintetis dan terisolasi.</a:t>
            </a:r>
          </a:p>
          <a:p xmlns:a="http://schemas.openxmlformats.org/drawingml/2006/main">
            <a:r>
              <a:t/>
            </a:r>
          </a:p>
          <a:p xmlns:a="http://schemas.openxmlformats.org/drawingml/2006/main">
            <a:r>
              <a:t>Sumber: docs/AGENTS.md, docs/03-LEARNING_SYSTEM.md, src/features/database/components/database-query-lab.tsx.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SQLab merupakan playground yang terpisah dari Lab wajib. Pengguna dapat membuat tabel, kolom, relasi dan isi data melalui formulir yang dibatasi. Query berjalan pada SQLite lokal di browser. AI designer memberikan draf sintetis untuk ditinjau dan diterapkan secara eksplisit. Draf akun tersimpan pada browser yang sama, belum lintas perangkat. Draf tamu hilang ketika meninggalkan atau memuat ulang workspace.</a:t>
            </a:r>
          </a:p>
          <a:p xmlns:a="http://schemas.openxmlformats.org/drawingml/2006/main">
            <a:r>
              <a:t/>
            </a:r>
          </a:p>
          <a:p xmlns:a="http://schemas.openxmlformats.org/drawingml/2006/main">
            <a:r>
              <a:t>Sumber: docs/AGENTS.md, src/features/sqlab/components/sqlab-workspace.tsx.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Tutor memahami konteks materi. Dalam Lab, mahasiswa dapat menyertakan query, hasil yang terlihat dan kesalahan. Panel menawarkan petunjuk, penjelasan konsep serta latihan serupa. Bantuan tidak langsung mengubah progres atau nilai. Selama sesi tes aktif, backend memblokir endpoint AI. Screenshot memperlihatkan panel dan pilihan bantuan, tanpa mengarang respons provider.</a:t>
            </a:r>
          </a:p>
          <a:p xmlns:a="http://schemas.openxmlformats.org/drawingml/2006/main">
            <a:r>
              <a:t/>
            </a:r>
          </a:p>
          <a:p xmlns:a="http://schemas.openxmlformats.org/drawingml/2006/main">
            <a:r>
              <a:t>Sumber: docs/05-AI_AGENT.md, docs/03-LEARNING_SYSTEM.md.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Pre-test bersifat diagnostik dan tidak ikut menentukan nilai akhir. Post-test terpublikasi memuat soal konsep dan tugas penulisan SQL. Browser tidak menentukan nilai resmi. Server menjalankan pemeriksaan pada fixture sintetis dan menyimpan hasil pengguna dengan akun. Nilai kelulusan minimal 75. Pengguna dapat mengulang setelah sesi sebelumnya selesai. Mode tamu memiliki hasil percobaan, bukan nilai resmi yang tersimpan.</a:t>
            </a:r>
          </a:p>
          <a:p xmlns:a="http://schemas.openxmlformats.org/drawingml/2006/main">
            <a:r>
              <a:t/>
            </a:r>
          </a:p>
          <a:p xmlns:a="http://schemas.openxmlformats.org/drawingml/2006/main">
            <a:r>
              <a:t>Sumber: docs/03-LEARNING_SYSTEM.md, docs/11-SECURITY.md.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Quethink memprioritaskan layout mobile. Navigasi bawah memiliki maksimal lima tujuan, dengan Menu untuk membuka fitur lain. Materi memakai satu kolom, sedangkan Lab mengikuti susunan vertikal agar lebih mudah dibaca pada layar sempit. Aplikasi Android memakai TWA dan memuat web yang sama. Pengguna dapat mencoba melalui sesi tamu, sedangkan akun menyimpan progres resmi.</a:t>
            </a:r>
          </a:p>
          <a:p xmlns:a="http://schemas.openxmlformats.org/drawingml/2006/main">
            <a:r>
              <a:t/>
            </a:r>
          </a:p>
          <a:p xmlns:a="http://schemas.openxmlformats.org/drawingml/2006/main">
            <a:r>
              <a:t>Sumber: docs/10-DESIGN_SYSTEM.md, android/README.md.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Admin CMS membantu pengelola memperbarui konten tanpa mengedit database secara manual. Admin dapat membuat atau mengubah materi, exercise, test case dan assessment. Pratinjau dapat melewati urutan belajar tanpa mengubah progres mahasiswa. Draft baru tidak langsung terpublikasi. Route serta mutasi admin memakai pemeriksaan role di server. USER dan ADMIN merupakan dua role yang digunakan.</a:t>
            </a:r>
          </a:p>
          <a:p xmlns:a="http://schemas.openxmlformats.org/drawingml/2006/main">
            <a:r>
              <a:t/>
            </a:r>
          </a:p>
          <a:p xmlns:a="http://schemas.openxmlformats.org/drawingml/2006/main">
            <a:r>
              <a:t>Sumber: docs/01-PRD.md, docs/AGENTS.md, src/features/admin.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Tutup presentasi dengan demonstrasi singkat. Buka aplikasi melalui URL pada slide, pilih mode tamu, lalu masuk ke Materi atau Lab. Untuk contoh query, perlihatkan SELECT dan hasilnya. Berikutnya buka SQLab dan gunakan Katalog Buku untuk melihat skema buatan sendiri. Jelaskan bahwa mode akun mengikuti urutan wajib dan menyimpan progres.</a:t>
            </a:r>
          </a:p>
          <a:p xmlns:a="http://schemas.openxmlformats.org/drawingml/2006/main">
            <a:r>
              <a:t/>
            </a:r>
          </a:p>
          <a:p xmlns:a="http://schemas.openxmlformats.org/drawingml/2006/main">
            <a:r>
              <a:t>Sumber: https://www.barlabs.my.id/app, docs/AGENTS.md.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4d89cac90942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aaba1dfbd24576" /><Relationship Type="http://schemas.openxmlformats.org/officeDocument/2006/relationships/slideLayout" Target="/ppt/slideLayouts/slideLayout1.xml" Id="Rc7610030a5e44f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610030a5e44f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8bdc44747e464f" /><Relationship Type="http://schemas.openxmlformats.org/officeDocument/2006/relationships/image" Target="/ppt/media/image.png" Id="R9deb98450f7e46a6" /><Relationship Type="http://schemas.openxmlformats.org/officeDocument/2006/relationships/image" Target="/ppt/media/image2.png" Id="R5ab3a4c378524c13" /><Relationship Type="http://schemas.openxmlformats.org/officeDocument/2006/relationships/notesSlide" Target="/ppt/notesSlides/notesSlide1.xml" Id="R7719ba2009c64d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9d16c0d9364b4b" /><Relationship Type="http://schemas.openxmlformats.org/officeDocument/2006/relationships/image" Target="/ppt/media/image3.png" Id="R39fe420461464638" /><Relationship Type="http://schemas.openxmlformats.org/officeDocument/2006/relationships/notesSlide" Target="/ppt/notesSlides/notesSlide2.xml" Id="Rac51976ad4f24c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aaf0ded671420f" /><Relationship Type="http://schemas.openxmlformats.org/officeDocument/2006/relationships/image" Target="/ppt/media/image4.png" Id="R78a106ad71e2437f" /><Relationship Type="http://schemas.openxmlformats.org/officeDocument/2006/relationships/notesSlide" Target="/ppt/notesSlides/notesSlide3.xml" Id="R6bdeece8cd3b42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f1009f20464afa" /><Relationship Type="http://schemas.openxmlformats.org/officeDocument/2006/relationships/notesSlide" Target="/ppt/notesSlides/notesSlide4.xml" Id="R8208b920d9d946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4de0e116e9464c" /><Relationship Type="http://schemas.openxmlformats.org/officeDocument/2006/relationships/notesSlide" Target="/ppt/notesSlides/notesSlide5.xml" Id="R42255a7a002243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c5e72f8b9c4fb3" /><Relationship Type="http://schemas.openxmlformats.org/officeDocument/2006/relationships/image" Target="/ppt/media/image5.png" Id="Rc2b0a119c38946a4" /><Relationship Type="http://schemas.openxmlformats.org/officeDocument/2006/relationships/notesSlide" Target="/ppt/notesSlides/notesSlide6.xml" Id="R2854bab557c14b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4b1f1db4234c28" /><Relationship Type="http://schemas.openxmlformats.org/officeDocument/2006/relationships/image" Target="/ppt/media/image6.png" Id="R987d45205c984da5" /><Relationship Type="http://schemas.openxmlformats.org/officeDocument/2006/relationships/notesSlide" Target="/ppt/notesSlides/notesSlide7.xml" Id="R6a69b001dd074f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614ee95b2849a9" /><Relationship Type="http://schemas.openxmlformats.org/officeDocument/2006/relationships/image" Target="/ppt/media/image7.png" Id="R254230071e444a55" /><Relationship Type="http://schemas.openxmlformats.org/officeDocument/2006/relationships/notesSlide" Target="/ppt/notesSlides/notesSlide8.xml" Id="R5b32c9bbf0dc49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c2776ae41124f3c" /><Relationship Type="http://schemas.openxmlformats.org/officeDocument/2006/relationships/image" Target="/ppt/media/image8.png" Id="R6f237d4c6fbd4707" /><Relationship Type="http://schemas.openxmlformats.org/officeDocument/2006/relationships/notesSlide" Target="/ppt/notesSlides/notesSlide9.xml" Id="R5158e94059784f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780b56bac34405d" /><Relationship Type="http://schemas.openxmlformats.org/officeDocument/2006/relationships/notesSlide" Target="/ppt/notesSlides/notesSlide10.xml" Id="R8fff73282cad49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fa790a2273d4eea" /><Relationship Type="http://schemas.openxmlformats.org/officeDocument/2006/relationships/image" Target="/ppt/media/image9.png" Id="R374ad4a378ef4226" /><Relationship Type="http://schemas.openxmlformats.org/officeDocument/2006/relationships/image" Target="/ppt/media/image10.png" Id="Re62004c1a3fb41e0" /><Relationship Type="http://schemas.openxmlformats.org/officeDocument/2006/relationships/notesSlide" Target="/ppt/notesSlides/notesSlide11.xml" Id="R7ecf83bdb1db4b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0e030ad6e0b4fb5" /><Relationship Type="http://schemas.openxmlformats.org/officeDocument/2006/relationships/notesSlide" Target="/ppt/notesSlides/notesSlide12.xml" Id="R89edf4b0f26647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19640df89904122" /><Relationship Type="http://schemas.openxmlformats.org/officeDocument/2006/relationships/hyperlink" Target="https://www.barlabs.my.id/app" TargetMode="External" Id="Rf4f61e7b66b74d2b" /><Relationship Type="http://schemas.openxmlformats.org/officeDocument/2006/relationships/image" Target="/ppt/media/image11.png" Id="R688ff81cb4b44987" /><Relationship Type="http://schemas.openxmlformats.org/officeDocument/2006/relationships/notesSlide" Target="/ppt/notesSlides/notesSlide13.xml" Id="R4492d4abccf5462d" /></Relationships>
</file>

<file path=ppt/slides/slide1.xml><?xml version="1.0" encoding="utf-8"?>
<p:sld xmlns:p="http://schemas.openxmlformats.org/presentationml/2006/main">
  <p:cSld>
    <p:bg>
      <p:bgPr>
        <a:solidFill xmlns:a="http://schemas.openxmlformats.org/drawingml/2006/main">
          <a:srgbClr val="F8F7F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deb98450f7e46a6"/>
          <a:stretch xmlns:a="http://schemas.openxmlformats.org/drawingml/2006/main"/>
        </p:blipFill>
        <p:spPr>
          <a:xfrm xmlns:a="http://schemas.openxmlformats.org/drawingml/2006/main">
            <a:off x="685800" y="647700"/>
            <a:ext cx="666750" cy="66675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25F0D4B-DF0E-444E-94F8-7C0DEE8CC787}"/>
              </a:ext>
            </a:extLst>
          </p:cNvPr>
          <p:cNvSpPr>
            <a:spLocks xmlns:a="http://schemas.openxmlformats.org/drawingml/2006/main" noGrp="1"/>
          </p:cNvSpPr>
          <p:nvPr/>
        </p:nvSpPr>
        <p:spPr>
          <a:xfrm xmlns:a="http://schemas.openxmlformats.org/drawingml/2006/main">
            <a:off x="685800" y="1809750"/>
            <a:ext cx="647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600" b="1">
                <a:solidFill>
                  <a:srgbClr val="25223D"/>
                </a:solidFill>
                <a:latin typeface="Arial"/>
                <a:ea typeface="Arial"/>
                <a:cs typeface="Arial"/>
              </a:defRPr>
            </a:pPr>
            <a:r>
              <a:rPr sz="6600" b="1">
                <a:solidFill>
                  <a:srgbClr val="25223D"/>
                </a:solidFill>
                <a:latin typeface="Arial"/>
                <a:ea typeface="Arial"/>
                <a:cs typeface="Arial"/>
              </a:rPr>
              <a:t>Quethink</a:t>
            </a:r>
          </a:p>
        </p:txBody>
      </p:sp>
      <p:sp>
        <p:nvSpPr>
          <p:cNvPr id="3" name="text-2">
            <a:extLst xmlns:a="http://schemas.openxmlformats.org/drawingml/2006/main">
              <a:ext uri="{FF2B5EF4-FFF2-40B4-BE49-F238E27FC236}">
                <a16:creationId xmlns:a16="http://schemas.microsoft.com/office/drawing/2014/main" id="{D97B8636-F535-4C92-BF47-B57904B69682}"/>
              </a:ext>
            </a:extLst>
          </p:cNvPr>
          <p:cNvSpPr>
            <a:spLocks xmlns:a="http://schemas.openxmlformats.org/drawingml/2006/main" noGrp="1"/>
          </p:cNvSpPr>
          <p:nvPr/>
        </p:nvSpPr>
        <p:spPr>
          <a:xfrm xmlns:a="http://schemas.openxmlformats.org/drawingml/2006/main">
            <a:off x="723900" y="314325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4F46E5"/>
                </a:solidFill>
                <a:latin typeface="Arial"/>
                <a:ea typeface="Arial"/>
                <a:cs typeface="Arial"/>
              </a:defRPr>
            </a:pPr>
            <a:r>
              <a:rPr sz="3300" b="1">
                <a:solidFill>
                  <a:srgbClr val="4F46E5"/>
                </a:solidFill>
                <a:latin typeface="Arial"/>
                <a:ea typeface="Arial"/>
                <a:cs typeface="Arial"/>
              </a:rPr>
              <a:t>Belajar basis data</a:t>
            </a:r>
          </a:p>
          <a:p xmlns:a="http://schemas.openxmlformats.org/drawingml/2006/main">
            <a:pPr>
              <a:defRPr sz="3300" b="1">
                <a:solidFill>
                  <a:srgbClr val="4F46E5"/>
                </a:solidFill>
                <a:latin typeface="Arial"/>
                <a:ea typeface="Arial"/>
                <a:cs typeface="Arial"/>
              </a:defRPr>
            </a:pPr>
            <a:r>
              <a:rPr sz="3300" b="1">
                <a:solidFill>
                  <a:srgbClr val="4F46E5"/>
                </a:solidFill>
                <a:latin typeface="Arial"/>
                <a:ea typeface="Arial"/>
                <a:cs typeface="Arial"/>
              </a:rPr>
              <a:t>melalui visual dan query</a:t>
            </a:r>
          </a:p>
        </p:txBody>
      </p:sp>
      <p:sp>
        <p:nvSpPr>
          <p:cNvPr id="4" name="text-3">
            <a:extLst xmlns:a="http://schemas.openxmlformats.org/drawingml/2006/main">
              <a:ext uri="{FF2B5EF4-FFF2-40B4-BE49-F238E27FC236}">
                <a16:creationId xmlns:a16="http://schemas.microsoft.com/office/drawing/2014/main" id="{7D5E6964-66EC-4262-AB56-F41A81427496}"/>
              </a:ext>
            </a:extLst>
          </p:cNvPr>
          <p:cNvSpPr>
            <a:spLocks xmlns:a="http://schemas.openxmlformats.org/drawingml/2006/main" noGrp="1"/>
          </p:cNvSpPr>
          <p:nvPr/>
        </p:nvSpPr>
        <p:spPr>
          <a:xfrm xmlns:a="http://schemas.openxmlformats.org/drawingml/2006/main">
            <a:off x="742950" y="5200650"/>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625E78"/>
                </a:solidFill>
                <a:latin typeface="Arial"/>
                <a:ea typeface="Arial"/>
                <a:cs typeface="Arial"/>
              </a:defRPr>
            </a:pPr>
            <a:r>
              <a:rPr sz="2025" b="0">
                <a:solidFill>
                  <a:srgbClr val="625E78"/>
                </a:solidFill>
                <a:latin typeface="Arial"/>
                <a:ea typeface="Arial"/>
                <a:cs typeface="Arial"/>
              </a:rPr>
              <a:t>Untuk mahasiswa informatika pemula</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ab3a4c378524c13"/>
          <a:stretch xmlns:a="http://schemas.openxmlformats.org/drawingml/2006/main"/>
        </p:blipFill>
        <p:spPr>
          <a:xfrm xmlns:a="http://schemas.openxmlformats.org/drawingml/2006/main">
            <a:off x="8382000" y="1857375"/>
            <a:ext cx="2857500" cy="2571750"/>
          </a:xfrm>
          <a:prstGeom xmlns:a="http://schemas.openxmlformats.org/drawingml/2006/main" prst="rect">
            <a:avLst/>
          </a:prstGeom>
        </p:spPr>
      </p:pic>
    </p:spTree>
    <p:extLst>
      <p:ext uri="{BB962C8B-B14F-4D97-AF65-F5344CB8AC3E}">
        <p14:creationId xmlns:p14="http://schemas.microsoft.com/office/powerpoint/2010/main" val="1099228843"/>
      </p:ext>
    </p:extLst>
  </p:cSld>
</p:sld>
</file>

<file path=ppt/slides/slide2.xml><?xml version="1.0" encoding="utf-8"?>
<p:sld xmlns:p="http://schemas.openxmlformats.org/presentationml/2006/main">
  <p:cSld>
    <p:bg>
      <p:bgPr>
        <a:solidFill xmlns:a="http://schemas.openxmlformats.org/drawingml/2006/main">
          <a:srgbClr val="FFF0E3"/>
        </a:solidFill>
      </p:bgPr>
    </p:bg>
    <p:spTree>
      <p:nvGrpSpPr>
        <p:cNvPr id="1" name=""/>
        <p:cNvGrpSpPr/>
        <p:nvPr/>
      </p:nvGrpSpPr>
      <p:grpSpPr>
        <a:xfrm xmlns:a="http://schemas.openxmlformats.org/drawingml/2006/main"/>
      </p:grpSpPr>
      <p:sp>
        <p:nvSpPr>
          <p:cNvPr id="10" name="text-4">
            <a:extLst xmlns:a="http://schemas.openxmlformats.org/drawingml/2006/main">
              <a:ext uri="{FF2B5EF4-FFF2-40B4-BE49-F238E27FC236}">
                <a16:creationId xmlns:a16="http://schemas.microsoft.com/office/drawing/2014/main" id="{12F978D0-F3AB-4AF9-946C-CA77EBF6F68D}"/>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5223D"/>
                </a:solidFill>
                <a:latin typeface="Arial"/>
                <a:ea typeface="Arial"/>
                <a:cs typeface="Arial"/>
              </a:defRPr>
            </a:pPr>
            <a:r>
              <a:rPr sz="3450" b="1">
                <a:solidFill>
                  <a:srgbClr val="25223D"/>
                </a:solidFill>
                <a:latin typeface="Arial"/>
                <a:ea typeface="Arial"/>
                <a:cs typeface="Arial"/>
              </a:rPr>
              <a:t>Kebutuhan pembelajar pemula</a:t>
            </a:r>
          </a:p>
        </p:txBody>
      </p:sp>
      <p:sp>
        <p:nvSpPr>
          <p:cNvPr id="2" name="text-5">
            <a:extLst xmlns:a="http://schemas.openxmlformats.org/drawingml/2006/main">
              <a:ext uri="{FF2B5EF4-FFF2-40B4-BE49-F238E27FC236}">
                <a16:creationId xmlns:a16="http://schemas.microsoft.com/office/drawing/2014/main" id="{7E52C5A7-542F-4DD0-97A4-667C79139506}"/>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5E78"/>
                </a:solidFill>
                <a:latin typeface="Arial"/>
                <a:ea typeface="Arial"/>
                <a:cs typeface="Arial"/>
              </a:defRPr>
            </a:pPr>
            <a:r>
              <a:rPr sz="1275" b="0">
                <a:solidFill>
                  <a:srgbClr val="625E78"/>
                </a:solidFill>
                <a:latin typeface="Arial"/>
                <a:ea typeface="Arial"/>
                <a:cs typeface="Arial"/>
              </a:rPr>
              <a:t>02</a:t>
            </a:r>
          </a:p>
        </p:txBody>
      </p:sp>
      <p:sp>
        <p:nvSpPr>
          <p:cNvPr id="3" name="text-6">
            <a:extLst xmlns:a="http://schemas.openxmlformats.org/drawingml/2006/main">
              <a:ext uri="{FF2B5EF4-FFF2-40B4-BE49-F238E27FC236}">
                <a16:creationId xmlns:a16="http://schemas.microsoft.com/office/drawing/2014/main" id="{69C9BC87-1C72-447D-A090-CF874D96C30B}"/>
              </a:ext>
            </a:extLst>
          </p:cNvPr>
          <p:cNvSpPr>
            <a:spLocks xmlns:a="http://schemas.openxmlformats.org/drawingml/2006/main" noGrp="1"/>
          </p:cNvSpPr>
          <p:nvPr/>
        </p:nvSpPr>
        <p:spPr>
          <a:xfrm xmlns:a="http://schemas.openxmlformats.org/drawingml/2006/main">
            <a:off x="685800" y="1885950"/>
            <a:ext cx="638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5223D"/>
                </a:solidFill>
                <a:latin typeface="Arial"/>
                <a:ea typeface="Arial"/>
                <a:cs typeface="Arial"/>
              </a:defRPr>
            </a:pPr>
            <a:r>
              <a:rPr sz="2175" b="1">
                <a:solidFill>
                  <a:srgbClr val="25223D"/>
                </a:solidFill>
                <a:latin typeface="Arial"/>
                <a:ea typeface="Arial"/>
                <a:cs typeface="Arial"/>
              </a:rPr>
              <a:t>Memahami hubungan data</a:t>
            </a:r>
          </a:p>
        </p:txBody>
      </p:sp>
      <p:sp>
        <p:nvSpPr>
          <p:cNvPr id="4" name="text-7">
            <a:extLst xmlns:a="http://schemas.openxmlformats.org/drawingml/2006/main">
              <a:ext uri="{FF2B5EF4-FFF2-40B4-BE49-F238E27FC236}">
                <a16:creationId xmlns:a16="http://schemas.microsoft.com/office/drawing/2014/main" id="{1D97D28E-45FF-485C-81F9-BA0B9040B191}"/>
              </a:ext>
            </a:extLst>
          </p:cNvPr>
          <p:cNvSpPr>
            <a:spLocks xmlns:a="http://schemas.openxmlformats.org/drawingml/2006/main" noGrp="1"/>
          </p:cNvSpPr>
          <p:nvPr/>
        </p:nvSpPr>
        <p:spPr>
          <a:xfrm xmlns:a="http://schemas.openxmlformats.org/drawingml/2006/main">
            <a:off x="685800" y="2305050"/>
            <a:ext cx="638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Tabel, baris, dan kunci perlu terlihat sebagai satu model.</a:t>
            </a:r>
          </a:p>
        </p:txBody>
      </p:sp>
      <p:sp>
        <p:nvSpPr>
          <p:cNvPr id="5" name="text-8">
            <a:extLst xmlns:a="http://schemas.openxmlformats.org/drawingml/2006/main">
              <a:ext uri="{FF2B5EF4-FFF2-40B4-BE49-F238E27FC236}">
                <a16:creationId xmlns:a16="http://schemas.microsoft.com/office/drawing/2014/main" id="{6C9F3740-EAEA-4A07-8D34-CF7BF5CDED79}"/>
              </a:ext>
            </a:extLst>
          </p:cNvPr>
          <p:cNvSpPr>
            <a:spLocks xmlns:a="http://schemas.openxmlformats.org/drawingml/2006/main" noGrp="1"/>
          </p:cNvSpPr>
          <p:nvPr/>
        </p:nvSpPr>
        <p:spPr>
          <a:xfrm xmlns:a="http://schemas.openxmlformats.org/drawingml/2006/main">
            <a:off x="685800" y="3238500"/>
            <a:ext cx="638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5223D"/>
                </a:solidFill>
                <a:latin typeface="Arial"/>
                <a:ea typeface="Arial"/>
                <a:cs typeface="Arial"/>
              </a:defRPr>
            </a:pPr>
            <a:r>
              <a:rPr sz="2175" b="1">
                <a:solidFill>
                  <a:srgbClr val="25223D"/>
                </a:solidFill>
                <a:latin typeface="Arial"/>
                <a:ea typeface="Arial"/>
                <a:cs typeface="Arial"/>
              </a:rPr>
              <a:t>Menghubungkan query dengan hasil</a:t>
            </a:r>
          </a:p>
        </p:txBody>
      </p:sp>
      <p:sp>
        <p:nvSpPr>
          <p:cNvPr id="6" name="text-9">
            <a:extLst xmlns:a="http://schemas.openxmlformats.org/drawingml/2006/main">
              <a:ext uri="{FF2B5EF4-FFF2-40B4-BE49-F238E27FC236}">
                <a16:creationId xmlns:a16="http://schemas.microsoft.com/office/drawing/2014/main" id="{13A5761F-2697-46B6-97DC-6672290F8DD5}"/>
              </a:ext>
            </a:extLst>
          </p:cNvPr>
          <p:cNvSpPr>
            <a:spLocks xmlns:a="http://schemas.openxmlformats.org/drawingml/2006/main" noGrp="1"/>
          </p:cNvSpPr>
          <p:nvPr/>
        </p:nvSpPr>
        <p:spPr>
          <a:xfrm xmlns:a="http://schemas.openxmlformats.org/drawingml/2006/main">
            <a:off x="685800" y="3657600"/>
            <a:ext cx="638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Mahasiswa perlu melihat apa yang berubah ketika query dijalankan.</a:t>
            </a:r>
          </a:p>
        </p:txBody>
      </p:sp>
      <p:sp>
        <p:nvSpPr>
          <p:cNvPr id="7" name="text-10">
            <a:extLst xmlns:a="http://schemas.openxmlformats.org/drawingml/2006/main">
              <a:ext uri="{FF2B5EF4-FFF2-40B4-BE49-F238E27FC236}">
                <a16:creationId xmlns:a16="http://schemas.microsoft.com/office/drawing/2014/main" id="{7D0EE898-626B-497A-BD05-734E98DE887C}"/>
              </a:ext>
            </a:extLst>
          </p:cNvPr>
          <p:cNvSpPr>
            <a:spLocks xmlns:a="http://schemas.openxmlformats.org/drawingml/2006/main" noGrp="1"/>
          </p:cNvSpPr>
          <p:nvPr/>
        </p:nvSpPr>
        <p:spPr>
          <a:xfrm xmlns:a="http://schemas.openxmlformats.org/drawingml/2006/main">
            <a:off x="685800" y="4591050"/>
            <a:ext cx="638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5223D"/>
                </a:solidFill>
                <a:latin typeface="Arial"/>
                <a:ea typeface="Arial"/>
                <a:cs typeface="Arial"/>
              </a:defRPr>
            </a:pPr>
            <a:r>
              <a:rPr sz="2175" b="1">
                <a:solidFill>
                  <a:srgbClr val="25223D"/>
                </a:solidFill>
                <a:latin typeface="Arial"/>
                <a:ea typeface="Arial"/>
                <a:cs typeface="Arial"/>
              </a:rPr>
              <a:t>Mencoba dengan aman</a:t>
            </a:r>
          </a:p>
        </p:txBody>
      </p:sp>
      <p:sp>
        <p:nvSpPr>
          <p:cNvPr id="8" name="text-11">
            <a:extLst xmlns:a="http://schemas.openxmlformats.org/drawingml/2006/main">
              <a:ext uri="{FF2B5EF4-FFF2-40B4-BE49-F238E27FC236}">
                <a16:creationId xmlns:a16="http://schemas.microsoft.com/office/drawing/2014/main" id="{17C25572-9DEC-4B13-BFC6-BE2989206476}"/>
              </a:ext>
            </a:extLst>
          </p:cNvPr>
          <p:cNvSpPr>
            <a:spLocks xmlns:a="http://schemas.openxmlformats.org/drawingml/2006/main" noGrp="1"/>
          </p:cNvSpPr>
          <p:nvPr/>
        </p:nvSpPr>
        <p:spPr>
          <a:xfrm xmlns:a="http://schemas.openxmlformats.org/drawingml/2006/main">
            <a:off x="685800" y="5010150"/>
            <a:ext cx="638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Data latihan dapat diulang dan dikembalikan ke kondisi awal.</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9fe420461464638"/>
          <a:stretch xmlns:a="http://schemas.openxmlformats.org/drawingml/2006/main"/>
        </p:blipFill>
        <p:spPr>
          <a:xfrm xmlns:a="http://schemas.openxmlformats.org/drawingml/2006/main">
            <a:off x="8210550" y="2297906"/>
            <a:ext cx="2857500" cy="2928938"/>
          </a:xfrm>
          <a:prstGeom xmlns:a="http://schemas.openxmlformats.org/drawingml/2006/main" prst="rect">
            <a:avLst/>
          </a:prstGeom>
        </p:spPr>
      </p:pic>
    </p:spTree>
    <p:extLst>
      <p:ext uri="{BB962C8B-B14F-4D97-AF65-F5344CB8AC3E}">
        <p14:creationId xmlns:p14="http://schemas.microsoft.com/office/powerpoint/2010/main" val="17136267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12">
            <a:extLst xmlns:a="http://schemas.openxmlformats.org/drawingml/2006/main">
              <a:ext uri="{FF2B5EF4-FFF2-40B4-BE49-F238E27FC236}">
                <a16:creationId xmlns:a16="http://schemas.microsoft.com/office/drawing/2014/main" id="{3CD7C92D-7ECE-4862-9E01-718CEB70F2D9}"/>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5223D"/>
                </a:solidFill>
                <a:latin typeface="Arial"/>
                <a:ea typeface="Arial"/>
                <a:cs typeface="Arial"/>
              </a:defRPr>
            </a:pPr>
            <a:r>
              <a:rPr sz="3450" b="1">
                <a:solidFill>
                  <a:srgbClr val="25223D"/>
                </a:solidFill>
                <a:latin typeface="Arial"/>
                <a:ea typeface="Arial"/>
                <a:cs typeface="Arial"/>
              </a:rPr>
              <a:t>Percobaan yang hasilnya terlihat</a:t>
            </a:r>
          </a:p>
        </p:txBody>
      </p:sp>
      <p:sp>
        <p:nvSpPr>
          <p:cNvPr id="2" name="text-13">
            <a:extLst xmlns:a="http://schemas.openxmlformats.org/drawingml/2006/main">
              <a:ext uri="{FF2B5EF4-FFF2-40B4-BE49-F238E27FC236}">
                <a16:creationId xmlns:a16="http://schemas.microsoft.com/office/drawing/2014/main" id="{7740230F-1A76-494D-B81B-BDDC7988A981}"/>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5E78"/>
                </a:solidFill>
                <a:latin typeface="Arial"/>
                <a:ea typeface="Arial"/>
                <a:cs typeface="Arial"/>
              </a:defRPr>
            </a:pPr>
            <a:r>
              <a:rPr sz="1275" b="0">
                <a:solidFill>
                  <a:srgbClr val="625E78"/>
                </a:solidFill>
                <a:latin typeface="Arial"/>
                <a:ea typeface="Arial"/>
                <a:cs typeface="Arial"/>
              </a:rPr>
              <a:t>03</a:t>
            </a:r>
          </a:p>
        </p:txBody>
      </p:sp>
      <p:sp>
        <p:nvSpPr>
          <p:cNvPr id="3" name="text-14">
            <a:extLst xmlns:a="http://schemas.openxmlformats.org/drawingml/2006/main">
              <a:ext uri="{FF2B5EF4-FFF2-40B4-BE49-F238E27FC236}">
                <a16:creationId xmlns:a16="http://schemas.microsoft.com/office/drawing/2014/main" id="{420DC331-EE3B-4422-BEE4-592652E9C7EE}"/>
              </a:ext>
            </a:extLst>
          </p:cNvPr>
          <p:cNvSpPr>
            <a:spLocks xmlns:a="http://schemas.openxmlformats.org/drawingml/2006/main" noGrp="1"/>
          </p:cNvSpPr>
          <p:nvPr/>
        </p:nvSpPr>
        <p:spPr>
          <a:xfrm xmlns:a="http://schemas.openxmlformats.org/drawingml/2006/main">
            <a:off x="685800" y="1828800"/>
            <a:ext cx="581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25223D"/>
                </a:solidFill>
                <a:latin typeface="Arial"/>
                <a:ea typeface="Arial"/>
                <a:cs typeface="Arial"/>
              </a:defRPr>
            </a:pPr>
            <a:r>
              <a:rPr sz="3000" b="1">
                <a:solidFill>
                  <a:srgbClr val="25223D"/>
                </a:solidFill>
                <a:latin typeface="Arial"/>
                <a:ea typeface="Arial"/>
                <a:cs typeface="Arial"/>
              </a:rPr>
              <a:t>Buku mana yang</a:t>
            </a:r>
          </a:p>
          <a:p xmlns:a="http://schemas.openxmlformats.org/drawingml/2006/main">
            <a:pPr>
              <a:defRPr sz="3000" b="1">
                <a:solidFill>
                  <a:srgbClr val="25223D"/>
                </a:solidFill>
                <a:latin typeface="Arial"/>
                <a:ea typeface="Arial"/>
                <a:cs typeface="Arial"/>
              </a:defRPr>
            </a:pPr>
            <a:r>
              <a:rPr sz="3000" b="1">
                <a:solidFill>
                  <a:srgbClr val="25223D"/>
                </a:solidFill>
                <a:latin typeface="Arial"/>
                <a:ea typeface="Arial"/>
                <a:cs typeface="Arial"/>
              </a:rPr>
              <a:t>masih tersedia?</a:t>
            </a:r>
          </a:p>
        </p:txBody>
      </p:sp>
      <p:sp>
        <p:nvSpPr>
          <p:cNvPr id="4" name="text-15">
            <a:extLst xmlns:a="http://schemas.openxmlformats.org/drawingml/2006/main">
              <a:ext uri="{FF2B5EF4-FFF2-40B4-BE49-F238E27FC236}">
                <a16:creationId xmlns:a16="http://schemas.microsoft.com/office/drawing/2014/main" id="{829395D7-29AC-4314-B345-0A7BC69F4754}"/>
              </a:ext>
            </a:extLst>
          </p:cNvPr>
          <p:cNvSpPr>
            <a:spLocks xmlns:a="http://schemas.openxmlformats.org/drawingml/2006/main" noGrp="1"/>
          </p:cNvSpPr>
          <p:nvPr/>
        </p:nvSpPr>
        <p:spPr>
          <a:xfrm xmlns:a="http://schemas.openxmlformats.org/drawingml/2006/main">
            <a:off x="685800" y="321945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4F46E5"/>
                </a:solidFill>
                <a:latin typeface="Arial"/>
                <a:ea typeface="Arial"/>
                <a:cs typeface="Arial"/>
              </a:defRPr>
            </a:pPr>
            <a:r>
              <a:rPr sz="1875" b="1">
                <a:solidFill>
                  <a:srgbClr val="4F46E5"/>
                </a:solidFill>
                <a:latin typeface="Arial"/>
                <a:ea typeface="Arial"/>
                <a:cs typeface="Arial"/>
              </a:rPr>
              <a:t>1</a:t>
            </a:r>
          </a:p>
        </p:txBody>
      </p:sp>
      <p:sp>
        <p:nvSpPr>
          <p:cNvPr id="5" name="text-16">
            <a:extLst xmlns:a="http://schemas.openxmlformats.org/drawingml/2006/main">
              <a:ext uri="{FF2B5EF4-FFF2-40B4-BE49-F238E27FC236}">
                <a16:creationId xmlns:a16="http://schemas.microsoft.com/office/drawing/2014/main" id="{221ADD5D-B648-4AD6-AF03-A4644744EBA3}"/>
              </a:ext>
            </a:extLst>
          </p:cNvPr>
          <p:cNvSpPr>
            <a:spLocks xmlns:a="http://schemas.openxmlformats.org/drawingml/2006/main" noGrp="1"/>
          </p:cNvSpPr>
          <p:nvPr/>
        </p:nvSpPr>
        <p:spPr>
          <a:xfrm xmlns:a="http://schemas.openxmlformats.org/drawingml/2006/main">
            <a:off x="1143000" y="3200400"/>
            <a:ext cx="135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5223D"/>
                </a:solidFill>
                <a:latin typeface="Arial"/>
                <a:ea typeface="Arial"/>
                <a:cs typeface="Arial"/>
              </a:defRPr>
            </a:pPr>
            <a:r>
              <a:rPr sz="2025" b="1">
                <a:solidFill>
                  <a:srgbClr val="25223D"/>
                </a:solidFill>
                <a:latin typeface="Arial"/>
                <a:ea typeface="Arial"/>
                <a:cs typeface="Arial"/>
              </a:rPr>
              <a:t>Amati</a:t>
            </a:r>
          </a:p>
        </p:txBody>
      </p:sp>
      <p:sp>
        <p:nvSpPr>
          <p:cNvPr id="6" name="text-17">
            <a:extLst xmlns:a="http://schemas.openxmlformats.org/drawingml/2006/main">
              <a:ext uri="{FF2B5EF4-FFF2-40B4-BE49-F238E27FC236}">
                <a16:creationId xmlns:a16="http://schemas.microsoft.com/office/drawing/2014/main" id="{555F0602-C91B-4A86-94B8-E8007C258D2E}"/>
              </a:ext>
            </a:extLst>
          </p:cNvPr>
          <p:cNvSpPr>
            <a:spLocks xmlns:a="http://schemas.openxmlformats.org/drawingml/2006/main" noGrp="1"/>
          </p:cNvSpPr>
          <p:nvPr/>
        </p:nvSpPr>
        <p:spPr>
          <a:xfrm xmlns:a="http://schemas.openxmlformats.org/drawingml/2006/main">
            <a:off x="2619375" y="3219450"/>
            <a:ext cx="4076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25E78"/>
                </a:solidFill>
                <a:latin typeface="Arial"/>
                <a:ea typeface="Arial"/>
                <a:cs typeface="Arial"/>
              </a:defRPr>
            </a:pPr>
            <a:r>
              <a:rPr sz="1800" b="0">
                <a:solidFill>
                  <a:srgbClr val="625E78"/>
                </a:solidFill>
                <a:latin typeface="Arial"/>
                <a:ea typeface="Arial"/>
                <a:cs typeface="Arial"/>
              </a:rPr>
              <a:t>Kenali tabel dan kolom yang dibutuhkan.</a:t>
            </a:r>
          </a:p>
        </p:txBody>
      </p:sp>
      <p:sp>
        <p:nvSpPr>
          <p:cNvPr id="7" name="text-18">
            <a:extLst xmlns:a="http://schemas.openxmlformats.org/drawingml/2006/main">
              <a:ext uri="{FF2B5EF4-FFF2-40B4-BE49-F238E27FC236}">
                <a16:creationId xmlns:a16="http://schemas.microsoft.com/office/drawing/2014/main" id="{1ABFCD1E-6A8D-4CAC-9A3C-C9C880CE9B90}"/>
              </a:ext>
            </a:extLst>
          </p:cNvPr>
          <p:cNvSpPr>
            <a:spLocks xmlns:a="http://schemas.openxmlformats.org/drawingml/2006/main" noGrp="1"/>
          </p:cNvSpPr>
          <p:nvPr/>
        </p:nvSpPr>
        <p:spPr>
          <a:xfrm xmlns:a="http://schemas.openxmlformats.org/drawingml/2006/main">
            <a:off x="685800" y="390525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4F46E5"/>
                </a:solidFill>
                <a:latin typeface="Arial"/>
                <a:ea typeface="Arial"/>
                <a:cs typeface="Arial"/>
              </a:defRPr>
            </a:pPr>
            <a:r>
              <a:rPr sz="1875" b="1">
                <a:solidFill>
                  <a:srgbClr val="4F46E5"/>
                </a:solidFill>
                <a:latin typeface="Arial"/>
                <a:ea typeface="Arial"/>
                <a:cs typeface="Arial"/>
              </a:rPr>
              <a:t>2</a:t>
            </a:r>
          </a:p>
        </p:txBody>
      </p:sp>
      <p:sp>
        <p:nvSpPr>
          <p:cNvPr id="8" name="text-19">
            <a:extLst xmlns:a="http://schemas.openxmlformats.org/drawingml/2006/main">
              <a:ext uri="{FF2B5EF4-FFF2-40B4-BE49-F238E27FC236}">
                <a16:creationId xmlns:a16="http://schemas.microsoft.com/office/drawing/2014/main" id="{E17EBA24-29C1-409E-83E4-3A7269FF802D}"/>
              </a:ext>
            </a:extLst>
          </p:cNvPr>
          <p:cNvSpPr>
            <a:spLocks xmlns:a="http://schemas.openxmlformats.org/drawingml/2006/main" noGrp="1"/>
          </p:cNvSpPr>
          <p:nvPr/>
        </p:nvSpPr>
        <p:spPr>
          <a:xfrm xmlns:a="http://schemas.openxmlformats.org/drawingml/2006/main">
            <a:off x="1143000" y="3886200"/>
            <a:ext cx="135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5223D"/>
                </a:solidFill>
                <a:latin typeface="Arial"/>
                <a:ea typeface="Arial"/>
                <a:cs typeface="Arial"/>
              </a:defRPr>
            </a:pPr>
            <a:r>
              <a:rPr sz="2025" b="1">
                <a:solidFill>
                  <a:srgbClr val="25223D"/>
                </a:solidFill>
                <a:latin typeface="Arial"/>
                <a:ea typeface="Arial"/>
                <a:cs typeface="Arial"/>
              </a:rPr>
              <a:t>Prediksi</a:t>
            </a:r>
          </a:p>
        </p:txBody>
      </p:sp>
      <p:sp>
        <p:nvSpPr>
          <p:cNvPr id="9" name="text-20">
            <a:extLst xmlns:a="http://schemas.openxmlformats.org/drawingml/2006/main">
              <a:ext uri="{FF2B5EF4-FFF2-40B4-BE49-F238E27FC236}">
                <a16:creationId xmlns:a16="http://schemas.microsoft.com/office/drawing/2014/main" id="{08087F51-BC8E-4AA1-BCAB-8423538A7C06}"/>
              </a:ext>
            </a:extLst>
          </p:cNvPr>
          <p:cNvSpPr>
            <a:spLocks xmlns:a="http://schemas.openxmlformats.org/drawingml/2006/main" noGrp="1"/>
          </p:cNvSpPr>
          <p:nvPr/>
        </p:nvSpPr>
        <p:spPr>
          <a:xfrm xmlns:a="http://schemas.openxmlformats.org/drawingml/2006/main">
            <a:off x="2619375" y="3905250"/>
            <a:ext cx="4076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25E78"/>
                </a:solidFill>
                <a:latin typeface="Arial"/>
                <a:ea typeface="Arial"/>
                <a:cs typeface="Arial"/>
              </a:defRPr>
            </a:pPr>
            <a:r>
              <a:rPr sz="1800" b="0">
                <a:solidFill>
                  <a:srgbClr val="625E78"/>
                </a:solidFill>
                <a:latin typeface="Arial"/>
                <a:ea typeface="Arial"/>
                <a:cs typeface="Arial"/>
              </a:rPr>
              <a:t>Perkirakan baris yang akan muncul.</a:t>
            </a:r>
          </a:p>
        </p:txBody>
      </p:sp>
      <p:sp>
        <p:nvSpPr>
          <p:cNvPr id="10" name="text-21">
            <a:extLst xmlns:a="http://schemas.openxmlformats.org/drawingml/2006/main">
              <a:ext uri="{FF2B5EF4-FFF2-40B4-BE49-F238E27FC236}">
                <a16:creationId xmlns:a16="http://schemas.microsoft.com/office/drawing/2014/main" id="{57D7F586-E238-42D3-B10A-AA437CAC019D}"/>
              </a:ext>
            </a:extLst>
          </p:cNvPr>
          <p:cNvSpPr>
            <a:spLocks xmlns:a="http://schemas.openxmlformats.org/drawingml/2006/main" noGrp="1"/>
          </p:cNvSpPr>
          <p:nvPr/>
        </p:nvSpPr>
        <p:spPr>
          <a:xfrm xmlns:a="http://schemas.openxmlformats.org/drawingml/2006/main">
            <a:off x="685800" y="459105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4F46E5"/>
                </a:solidFill>
                <a:latin typeface="Arial"/>
                <a:ea typeface="Arial"/>
                <a:cs typeface="Arial"/>
              </a:defRPr>
            </a:pPr>
            <a:r>
              <a:rPr sz="1875" b="1">
                <a:solidFill>
                  <a:srgbClr val="4F46E5"/>
                </a:solidFill>
                <a:latin typeface="Arial"/>
                <a:ea typeface="Arial"/>
                <a:cs typeface="Arial"/>
              </a:rPr>
              <a:t>3</a:t>
            </a:r>
          </a:p>
        </p:txBody>
      </p:sp>
      <p:sp>
        <p:nvSpPr>
          <p:cNvPr id="11" name="text-22">
            <a:extLst xmlns:a="http://schemas.openxmlformats.org/drawingml/2006/main">
              <a:ext uri="{FF2B5EF4-FFF2-40B4-BE49-F238E27FC236}">
                <a16:creationId xmlns:a16="http://schemas.microsoft.com/office/drawing/2014/main" id="{CB113ABA-DEB9-4C38-8198-F4389E42756B}"/>
              </a:ext>
            </a:extLst>
          </p:cNvPr>
          <p:cNvSpPr>
            <a:spLocks xmlns:a="http://schemas.openxmlformats.org/drawingml/2006/main" noGrp="1"/>
          </p:cNvSpPr>
          <p:nvPr/>
        </p:nvSpPr>
        <p:spPr>
          <a:xfrm xmlns:a="http://schemas.openxmlformats.org/drawingml/2006/main">
            <a:off x="1143000" y="4572000"/>
            <a:ext cx="135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5223D"/>
                </a:solidFill>
                <a:latin typeface="Arial"/>
                <a:ea typeface="Arial"/>
                <a:cs typeface="Arial"/>
              </a:defRPr>
            </a:pPr>
            <a:r>
              <a:rPr sz="2025" b="1">
                <a:solidFill>
                  <a:srgbClr val="25223D"/>
                </a:solidFill>
                <a:latin typeface="Arial"/>
                <a:ea typeface="Arial"/>
                <a:cs typeface="Arial"/>
              </a:rPr>
              <a:t>Jalankan</a:t>
            </a:r>
          </a:p>
        </p:txBody>
      </p:sp>
      <p:sp>
        <p:nvSpPr>
          <p:cNvPr id="12" name="text-23">
            <a:extLst xmlns:a="http://schemas.openxmlformats.org/drawingml/2006/main">
              <a:ext uri="{FF2B5EF4-FFF2-40B4-BE49-F238E27FC236}">
                <a16:creationId xmlns:a16="http://schemas.microsoft.com/office/drawing/2014/main" id="{D54E6229-747A-468D-A160-0BB8A3FD54DC}"/>
              </a:ext>
            </a:extLst>
          </p:cNvPr>
          <p:cNvSpPr>
            <a:spLocks xmlns:a="http://schemas.openxmlformats.org/drawingml/2006/main" noGrp="1"/>
          </p:cNvSpPr>
          <p:nvPr/>
        </p:nvSpPr>
        <p:spPr>
          <a:xfrm xmlns:a="http://schemas.openxmlformats.org/drawingml/2006/main">
            <a:off x="2619375" y="4591050"/>
            <a:ext cx="4076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25E78"/>
                </a:solidFill>
                <a:latin typeface="Arial"/>
                <a:ea typeface="Arial"/>
                <a:cs typeface="Arial"/>
              </a:defRPr>
            </a:pPr>
            <a:r>
              <a:rPr sz="1800" b="0">
                <a:solidFill>
                  <a:srgbClr val="625E78"/>
                </a:solidFill>
                <a:latin typeface="Arial"/>
                <a:ea typeface="Arial"/>
                <a:cs typeface="Arial"/>
              </a:rPr>
              <a:t>Tulis query pada database latihan.</a:t>
            </a:r>
          </a:p>
        </p:txBody>
      </p:sp>
      <p:sp>
        <p:nvSpPr>
          <p:cNvPr id="13" name="text-24">
            <a:extLst xmlns:a="http://schemas.openxmlformats.org/drawingml/2006/main">
              <a:ext uri="{FF2B5EF4-FFF2-40B4-BE49-F238E27FC236}">
                <a16:creationId xmlns:a16="http://schemas.microsoft.com/office/drawing/2014/main" id="{BA91929D-AB7C-426A-BB71-349CE2E79145}"/>
              </a:ext>
            </a:extLst>
          </p:cNvPr>
          <p:cNvSpPr>
            <a:spLocks xmlns:a="http://schemas.openxmlformats.org/drawingml/2006/main" noGrp="1"/>
          </p:cNvSpPr>
          <p:nvPr/>
        </p:nvSpPr>
        <p:spPr>
          <a:xfrm xmlns:a="http://schemas.openxmlformats.org/drawingml/2006/main">
            <a:off x="685800" y="5276850"/>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4F46E5"/>
                </a:solidFill>
                <a:latin typeface="Arial"/>
                <a:ea typeface="Arial"/>
                <a:cs typeface="Arial"/>
              </a:defRPr>
            </a:pPr>
            <a:r>
              <a:rPr sz="1875" b="1">
                <a:solidFill>
                  <a:srgbClr val="4F46E5"/>
                </a:solidFill>
                <a:latin typeface="Arial"/>
                <a:ea typeface="Arial"/>
                <a:cs typeface="Arial"/>
              </a:rPr>
              <a:t>4</a:t>
            </a:r>
          </a:p>
        </p:txBody>
      </p:sp>
      <p:sp>
        <p:nvSpPr>
          <p:cNvPr id="14" name="text-25">
            <a:extLst xmlns:a="http://schemas.openxmlformats.org/drawingml/2006/main">
              <a:ext uri="{FF2B5EF4-FFF2-40B4-BE49-F238E27FC236}">
                <a16:creationId xmlns:a16="http://schemas.microsoft.com/office/drawing/2014/main" id="{0DDA9205-22DD-44BC-A671-D49B57C16B66}"/>
              </a:ext>
            </a:extLst>
          </p:cNvPr>
          <p:cNvSpPr>
            <a:spLocks xmlns:a="http://schemas.openxmlformats.org/drawingml/2006/main" noGrp="1"/>
          </p:cNvSpPr>
          <p:nvPr/>
        </p:nvSpPr>
        <p:spPr>
          <a:xfrm xmlns:a="http://schemas.openxmlformats.org/drawingml/2006/main">
            <a:off x="1143000" y="5257800"/>
            <a:ext cx="135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5223D"/>
                </a:solidFill>
                <a:latin typeface="Arial"/>
                <a:ea typeface="Arial"/>
                <a:cs typeface="Arial"/>
              </a:defRPr>
            </a:pPr>
            <a:r>
              <a:rPr sz="2025" b="1">
                <a:solidFill>
                  <a:srgbClr val="25223D"/>
                </a:solidFill>
                <a:latin typeface="Arial"/>
                <a:ea typeface="Arial"/>
                <a:cs typeface="Arial"/>
              </a:rPr>
              <a:t>Periksa</a:t>
            </a:r>
          </a:p>
        </p:txBody>
      </p:sp>
      <p:sp>
        <p:nvSpPr>
          <p:cNvPr id="15" name="text-26">
            <a:extLst xmlns:a="http://schemas.openxmlformats.org/drawingml/2006/main">
              <a:ext uri="{FF2B5EF4-FFF2-40B4-BE49-F238E27FC236}">
                <a16:creationId xmlns:a16="http://schemas.microsoft.com/office/drawing/2014/main" id="{C61C1877-08B2-44F9-A7D4-7595642B070E}"/>
              </a:ext>
            </a:extLst>
          </p:cNvPr>
          <p:cNvSpPr>
            <a:spLocks xmlns:a="http://schemas.openxmlformats.org/drawingml/2006/main" noGrp="1"/>
          </p:cNvSpPr>
          <p:nvPr/>
        </p:nvSpPr>
        <p:spPr>
          <a:xfrm xmlns:a="http://schemas.openxmlformats.org/drawingml/2006/main">
            <a:off x="2619375" y="5276850"/>
            <a:ext cx="4076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25E78"/>
                </a:solidFill>
                <a:latin typeface="Arial"/>
                <a:ea typeface="Arial"/>
                <a:cs typeface="Arial"/>
              </a:defRPr>
            </a:pPr>
            <a:r>
              <a:rPr sz="1800" b="0">
                <a:solidFill>
                  <a:srgbClr val="625E78"/>
                </a:solidFill>
                <a:latin typeface="Arial"/>
                <a:ea typeface="Arial"/>
                <a:cs typeface="Arial"/>
              </a:rPr>
              <a:t>Bandingkan hasil dengan alasanmu.</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8a106ad71e2437f"/>
          <a:stretch xmlns:a="http://schemas.openxmlformats.org/drawingml/2006/main"/>
        </p:blipFill>
        <p:spPr>
          <a:xfrm xmlns:a="http://schemas.openxmlformats.org/drawingml/2006/main">
            <a:off x="7924800" y="1698427"/>
            <a:ext cx="3333750" cy="4375547"/>
          </a:xfrm>
          <a:prstGeom xmlns:a="http://schemas.openxmlformats.org/drawingml/2006/main" prst="rect">
            <a:avLst/>
          </a:prstGeom>
        </p:spPr>
      </p:pic>
    </p:spTree>
    <p:extLst>
      <p:ext uri="{BB962C8B-B14F-4D97-AF65-F5344CB8AC3E}">
        <p14:creationId xmlns:p14="http://schemas.microsoft.com/office/powerpoint/2010/main" val="847295017"/>
      </p:ext>
    </p:extLst>
  </p:cSld>
</p:sld>
</file>

<file path=ppt/slides/slide4.xml><?xml version="1.0" encoding="utf-8"?>
<p:sld xmlns:p="http://schemas.openxmlformats.org/presentationml/2006/main">
  <p:cSld>
    <p:bg>
      <p:bgPr>
        <a:solidFill xmlns:a="http://schemas.openxmlformats.org/drawingml/2006/main">
          <a:srgbClr val="F8F7FC"/>
        </a:solidFill>
      </p:bgPr>
    </p:bg>
    <p:spTree>
      <p:nvGrpSpPr>
        <p:cNvPr id="1" name=""/>
        <p:cNvGrpSpPr/>
        <p:nvPr/>
      </p:nvGrpSpPr>
      <p:grpSpPr>
        <a:xfrm xmlns:a="http://schemas.openxmlformats.org/drawingml/2006/main"/>
      </p:grpSpPr>
      <p:sp>
        <p:nvSpPr>
          <p:cNvPr id="16" name="text-27">
            <a:extLst xmlns:a="http://schemas.openxmlformats.org/drawingml/2006/main">
              <a:ext uri="{FF2B5EF4-FFF2-40B4-BE49-F238E27FC236}">
                <a16:creationId xmlns:a16="http://schemas.microsoft.com/office/drawing/2014/main" id="{2DFD2D28-408E-4DE1-8F60-5442075F16BD}"/>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5223D"/>
                </a:solidFill>
                <a:latin typeface="Arial"/>
                <a:ea typeface="Arial"/>
                <a:cs typeface="Arial"/>
              </a:defRPr>
            </a:pPr>
            <a:r>
              <a:rPr sz="3450" b="1">
                <a:solidFill>
                  <a:srgbClr val="25223D"/>
                </a:solidFill>
                <a:latin typeface="Arial"/>
                <a:ea typeface="Arial"/>
                <a:cs typeface="Arial"/>
              </a:rPr>
              <a:t>Alur belajar yang terarah</a:t>
            </a:r>
          </a:p>
        </p:txBody>
      </p:sp>
      <p:sp>
        <p:nvSpPr>
          <p:cNvPr id="2" name="text-28">
            <a:extLst xmlns:a="http://schemas.openxmlformats.org/drawingml/2006/main">
              <a:ext uri="{FF2B5EF4-FFF2-40B4-BE49-F238E27FC236}">
                <a16:creationId xmlns:a16="http://schemas.microsoft.com/office/drawing/2014/main" id="{9D4AD964-CD41-41F9-916F-023AC0A2292A}"/>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5E78"/>
                </a:solidFill>
                <a:latin typeface="Arial"/>
                <a:ea typeface="Arial"/>
                <a:cs typeface="Arial"/>
              </a:defRPr>
            </a:pPr>
            <a:r>
              <a:rPr sz="1275" b="0">
                <a:solidFill>
                  <a:srgbClr val="625E78"/>
                </a:solidFill>
                <a:latin typeface="Arial"/>
                <a:ea typeface="Arial"/>
                <a:cs typeface="Arial"/>
              </a:rPr>
              <a:t>04</a:t>
            </a:r>
          </a:p>
        </p:txBody>
      </p:sp>
      <p:sp>
        <p:nvSpPr>
          <p:cNvPr id="3" name="text-29">
            <a:extLst xmlns:a="http://schemas.openxmlformats.org/drawingml/2006/main">
              <a:ext uri="{FF2B5EF4-FFF2-40B4-BE49-F238E27FC236}">
                <a16:creationId xmlns:a16="http://schemas.microsoft.com/office/drawing/2014/main" id="{2B7F4334-76A5-43C5-B649-0C8EAD2729D6}"/>
              </a:ext>
            </a:extLst>
          </p:cNvPr>
          <p:cNvSpPr>
            <a:spLocks xmlns:a="http://schemas.openxmlformats.org/drawingml/2006/main" noGrp="1"/>
          </p:cNvSpPr>
          <p:nvPr/>
        </p:nvSpPr>
        <p:spPr>
          <a:xfrm xmlns:a="http://schemas.openxmlformats.org/drawingml/2006/main">
            <a:off x="685800" y="20002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4F46E5"/>
                </a:solidFill>
                <a:latin typeface="Arial"/>
                <a:ea typeface="Arial"/>
                <a:cs typeface="Arial"/>
              </a:defRPr>
            </a:pPr>
            <a:r>
              <a:rPr sz="2025" b="1">
                <a:solidFill>
                  <a:srgbClr val="4F46E5"/>
                </a:solidFill>
                <a:latin typeface="Arial"/>
                <a:ea typeface="Arial"/>
                <a:cs typeface="Arial"/>
              </a:rPr>
              <a:t>01</a:t>
            </a:r>
          </a:p>
        </p:txBody>
      </p:sp>
      <p:sp>
        <p:nvSpPr>
          <p:cNvPr id="4" name="text-30">
            <a:extLst xmlns:a="http://schemas.openxmlformats.org/drawingml/2006/main">
              <a:ext uri="{FF2B5EF4-FFF2-40B4-BE49-F238E27FC236}">
                <a16:creationId xmlns:a16="http://schemas.microsoft.com/office/drawing/2014/main" id="{472613D4-576C-4128-86B0-969F0771EFA9}"/>
              </a:ext>
            </a:extLst>
          </p:cNvPr>
          <p:cNvSpPr>
            <a:spLocks xmlns:a="http://schemas.openxmlformats.org/drawingml/2006/main" noGrp="1"/>
          </p:cNvSpPr>
          <p:nvPr/>
        </p:nvSpPr>
        <p:spPr>
          <a:xfrm xmlns:a="http://schemas.openxmlformats.org/drawingml/2006/main">
            <a:off x="685800" y="25336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5223D"/>
                </a:solidFill>
                <a:latin typeface="Arial"/>
                <a:ea typeface="Arial"/>
                <a:cs typeface="Arial"/>
              </a:defRPr>
            </a:pPr>
            <a:r>
              <a:rPr sz="2625" b="1">
                <a:solidFill>
                  <a:srgbClr val="25223D"/>
                </a:solidFill>
                <a:latin typeface="Arial"/>
                <a:ea typeface="Arial"/>
                <a:cs typeface="Arial"/>
              </a:rPr>
              <a:t>Pre-test</a:t>
            </a:r>
          </a:p>
        </p:txBody>
      </p:sp>
      <p:sp>
        <p:nvSpPr>
          <p:cNvPr id="5" name="text-31">
            <a:extLst xmlns:a="http://schemas.openxmlformats.org/drawingml/2006/main">
              <a:ext uri="{FF2B5EF4-FFF2-40B4-BE49-F238E27FC236}">
                <a16:creationId xmlns:a16="http://schemas.microsoft.com/office/drawing/2014/main" id="{01EE7902-8F2B-495F-9DD5-17B9D3614837}"/>
              </a:ext>
            </a:extLst>
          </p:cNvPr>
          <p:cNvSpPr>
            <a:spLocks xmlns:a="http://schemas.openxmlformats.org/drawingml/2006/main" noGrp="1"/>
          </p:cNvSpPr>
          <p:nvPr/>
        </p:nvSpPr>
        <p:spPr>
          <a:xfrm xmlns:a="http://schemas.openxmlformats.org/drawingml/2006/main">
            <a:off x="685800" y="3276600"/>
            <a:ext cx="23431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Mencatat pemahaman awal.</a:t>
            </a:r>
          </a:p>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Tidak menjadi syarat lulus.</a:t>
            </a:r>
          </a:p>
        </p:txBody>
      </p:sp>
      <p:sp>
        <p:nvSpPr>
          <p:cNvPr id="6" name="text-32">
            <a:extLst xmlns:a="http://schemas.openxmlformats.org/drawingml/2006/main">
              <a:ext uri="{FF2B5EF4-FFF2-40B4-BE49-F238E27FC236}">
                <a16:creationId xmlns:a16="http://schemas.microsoft.com/office/drawing/2014/main" id="{F80D3D54-5819-4149-9DD4-A87609383028}"/>
              </a:ext>
            </a:extLst>
          </p:cNvPr>
          <p:cNvSpPr>
            <a:spLocks xmlns:a="http://schemas.openxmlformats.org/drawingml/2006/main" noGrp="1"/>
          </p:cNvSpPr>
          <p:nvPr/>
        </p:nvSpPr>
        <p:spPr>
          <a:xfrm xmlns:a="http://schemas.openxmlformats.org/drawingml/2006/main">
            <a:off x="3400425" y="20002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4F46E5"/>
                </a:solidFill>
                <a:latin typeface="Arial"/>
                <a:ea typeface="Arial"/>
                <a:cs typeface="Arial"/>
              </a:defRPr>
            </a:pPr>
            <a:r>
              <a:rPr sz="2025" b="1">
                <a:solidFill>
                  <a:srgbClr val="4F46E5"/>
                </a:solidFill>
                <a:latin typeface="Arial"/>
                <a:ea typeface="Arial"/>
                <a:cs typeface="Arial"/>
              </a:rPr>
              <a:t>02</a:t>
            </a:r>
          </a:p>
        </p:txBody>
      </p:sp>
      <p:sp>
        <p:nvSpPr>
          <p:cNvPr id="7" name="text-33">
            <a:extLst xmlns:a="http://schemas.openxmlformats.org/drawingml/2006/main">
              <a:ext uri="{FF2B5EF4-FFF2-40B4-BE49-F238E27FC236}">
                <a16:creationId xmlns:a16="http://schemas.microsoft.com/office/drawing/2014/main" id="{443CFF66-E448-441E-8949-491017D43E05}"/>
              </a:ext>
            </a:extLst>
          </p:cNvPr>
          <p:cNvSpPr>
            <a:spLocks xmlns:a="http://schemas.openxmlformats.org/drawingml/2006/main" noGrp="1"/>
          </p:cNvSpPr>
          <p:nvPr/>
        </p:nvSpPr>
        <p:spPr>
          <a:xfrm xmlns:a="http://schemas.openxmlformats.org/drawingml/2006/main">
            <a:off x="3400425" y="25336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5223D"/>
                </a:solidFill>
                <a:latin typeface="Arial"/>
                <a:ea typeface="Arial"/>
                <a:cs typeface="Arial"/>
              </a:defRPr>
            </a:pPr>
            <a:r>
              <a:rPr sz="2625" b="1">
                <a:solidFill>
                  <a:srgbClr val="25223D"/>
                </a:solidFill>
                <a:latin typeface="Arial"/>
                <a:ea typeface="Arial"/>
                <a:cs typeface="Arial"/>
              </a:rPr>
              <a:t>Materi</a:t>
            </a:r>
          </a:p>
        </p:txBody>
      </p:sp>
      <p:sp>
        <p:nvSpPr>
          <p:cNvPr id="8" name="text-34">
            <a:extLst xmlns:a="http://schemas.openxmlformats.org/drawingml/2006/main">
              <a:ext uri="{FF2B5EF4-FFF2-40B4-BE49-F238E27FC236}">
                <a16:creationId xmlns:a16="http://schemas.microsoft.com/office/drawing/2014/main" id="{085F0BEA-CC10-44C0-8437-A2DC86BC6A10}"/>
              </a:ext>
            </a:extLst>
          </p:cNvPr>
          <p:cNvSpPr>
            <a:spLocks xmlns:a="http://schemas.openxmlformats.org/drawingml/2006/main" noGrp="1"/>
          </p:cNvSpPr>
          <p:nvPr/>
        </p:nvSpPr>
        <p:spPr>
          <a:xfrm xmlns:a="http://schemas.openxmlformats.org/drawingml/2006/main">
            <a:off x="3400425" y="3276600"/>
            <a:ext cx="23431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Membaca konsep dan</a:t>
            </a:r>
          </a:p>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mengakui selesai membaca.</a:t>
            </a:r>
          </a:p>
        </p:txBody>
      </p:sp>
      <p:sp>
        <p:nvSpPr>
          <p:cNvPr id="9" name="text-35">
            <a:extLst xmlns:a="http://schemas.openxmlformats.org/drawingml/2006/main">
              <a:ext uri="{FF2B5EF4-FFF2-40B4-BE49-F238E27FC236}">
                <a16:creationId xmlns:a16="http://schemas.microsoft.com/office/drawing/2014/main" id="{0C0D981F-F760-402E-9722-10EE1F731BF3}"/>
              </a:ext>
            </a:extLst>
          </p:cNvPr>
          <p:cNvSpPr>
            <a:spLocks xmlns:a="http://schemas.openxmlformats.org/drawingml/2006/main" noGrp="1"/>
          </p:cNvSpPr>
          <p:nvPr/>
        </p:nvSpPr>
        <p:spPr>
          <a:xfrm xmlns:a="http://schemas.openxmlformats.org/drawingml/2006/main">
            <a:off x="6115050" y="20002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4F46E5"/>
                </a:solidFill>
                <a:latin typeface="Arial"/>
                <a:ea typeface="Arial"/>
                <a:cs typeface="Arial"/>
              </a:defRPr>
            </a:pPr>
            <a:r>
              <a:rPr sz="2025" b="1">
                <a:solidFill>
                  <a:srgbClr val="4F46E5"/>
                </a:solidFill>
                <a:latin typeface="Arial"/>
                <a:ea typeface="Arial"/>
                <a:cs typeface="Arial"/>
              </a:rPr>
              <a:t>03</a:t>
            </a:r>
          </a:p>
        </p:txBody>
      </p:sp>
      <p:sp>
        <p:nvSpPr>
          <p:cNvPr id="10" name="text-36">
            <a:extLst xmlns:a="http://schemas.openxmlformats.org/drawingml/2006/main">
              <a:ext uri="{FF2B5EF4-FFF2-40B4-BE49-F238E27FC236}">
                <a16:creationId xmlns:a16="http://schemas.microsoft.com/office/drawing/2014/main" id="{CC0505C4-4F7A-4F64-9864-E73D6A7AB87E}"/>
              </a:ext>
            </a:extLst>
          </p:cNvPr>
          <p:cNvSpPr>
            <a:spLocks xmlns:a="http://schemas.openxmlformats.org/drawingml/2006/main" noGrp="1"/>
          </p:cNvSpPr>
          <p:nvPr/>
        </p:nvSpPr>
        <p:spPr>
          <a:xfrm xmlns:a="http://schemas.openxmlformats.org/drawingml/2006/main">
            <a:off x="6115050" y="25336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5223D"/>
                </a:solidFill>
                <a:latin typeface="Arial"/>
                <a:ea typeface="Arial"/>
                <a:cs typeface="Arial"/>
              </a:defRPr>
            </a:pPr>
            <a:r>
              <a:rPr sz="2625" b="1">
                <a:solidFill>
                  <a:srgbClr val="25223D"/>
                </a:solidFill>
                <a:latin typeface="Arial"/>
                <a:ea typeface="Arial"/>
                <a:cs typeface="Arial"/>
              </a:rPr>
              <a:t>Lab Materi</a:t>
            </a:r>
          </a:p>
        </p:txBody>
      </p:sp>
      <p:sp>
        <p:nvSpPr>
          <p:cNvPr id="11" name="text-37">
            <a:extLst xmlns:a="http://schemas.openxmlformats.org/drawingml/2006/main">
              <a:ext uri="{FF2B5EF4-FFF2-40B4-BE49-F238E27FC236}">
                <a16:creationId xmlns:a16="http://schemas.microsoft.com/office/drawing/2014/main" id="{088A51C8-D73C-47F9-A067-0557B9853C2E}"/>
              </a:ext>
            </a:extLst>
          </p:cNvPr>
          <p:cNvSpPr>
            <a:spLocks xmlns:a="http://schemas.openxmlformats.org/drawingml/2006/main" noGrp="1"/>
          </p:cNvSpPr>
          <p:nvPr/>
        </p:nvSpPr>
        <p:spPr>
          <a:xfrm xmlns:a="http://schemas.openxmlformats.org/drawingml/2006/main">
            <a:off x="6115050" y="3276600"/>
            <a:ext cx="23431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Menyelesaikan latihan inti</a:t>
            </a:r>
          </a:p>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yang sesuai dengan materi.</a:t>
            </a:r>
          </a:p>
        </p:txBody>
      </p:sp>
      <p:sp>
        <p:nvSpPr>
          <p:cNvPr id="12" name="text-38">
            <a:extLst xmlns:a="http://schemas.openxmlformats.org/drawingml/2006/main">
              <a:ext uri="{FF2B5EF4-FFF2-40B4-BE49-F238E27FC236}">
                <a16:creationId xmlns:a16="http://schemas.microsoft.com/office/drawing/2014/main" id="{0E5FF047-26CD-48FE-87D5-BE2FE833AEBB}"/>
              </a:ext>
            </a:extLst>
          </p:cNvPr>
          <p:cNvSpPr>
            <a:spLocks xmlns:a="http://schemas.openxmlformats.org/drawingml/2006/main" noGrp="1"/>
          </p:cNvSpPr>
          <p:nvPr/>
        </p:nvSpPr>
        <p:spPr>
          <a:xfrm xmlns:a="http://schemas.openxmlformats.org/drawingml/2006/main">
            <a:off x="8829675" y="20002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4F46E5"/>
                </a:solidFill>
                <a:latin typeface="Arial"/>
                <a:ea typeface="Arial"/>
                <a:cs typeface="Arial"/>
              </a:defRPr>
            </a:pPr>
            <a:r>
              <a:rPr sz="2025" b="1">
                <a:solidFill>
                  <a:srgbClr val="4F46E5"/>
                </a:solidFill>
                <a:latin typeface="Arial"/>
                <a:ea typeface="Arial"/>
                <a:cs typeface="Arial"/>
              </a:rPr>
              <a:t>04</a:t>
            </a:r>
          </a:p>
        </p:txBody>
      </p:sp>
      <p:sp>
        <p:nvSpPr>
          <p:cNvPr id="13" name="text-39">
            <a:extLst xmlns:a="http://schemas.openxmlformats.org/drawingml/2006/main">
              <a:ext uri="{FF2B5EF4-FFF2-40B4-BE49-F238E27FC236}">
                <a16:creationId xmlns:a16="http://schemas.microsoft.com/office/drawing/2014/main" id="{290C91D2-216B-4BA2-A040-434B797F23D1}"/>
              </a:ext>
            </a:extLst>
          </p:cNvPr>
          <p:cNvSpPr>
            <a:spLocks xmlns:a="http://schemas.openxmlformats.org/drawingml/2006/main" noGrp="1"/>
          </p:cNvSpPr>
          <p:nvPr/>
        </p:nvSpPr>
        <p:spPr>
          <a:xfrm xmlns:a="http://schemas.openxmlformats.org/drawingml/2006/main">
            <a:off x="8829675" y="25336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5223D"/>
                </a:solidFill>
                <a:latin typeface="Arial"/>
                <a:ea typeface="Arial"/>
                <a:cs typeface="Arial"/>
              </a:defRPr>
            </a:pPr>
            <a:r>
              <a:rPr sz="2625" b="1">
                <a:solidFill>
                  <a:srgbClr val="25223D"/>
                </a:solidFill>
                <a:latin typeface="Arial"/>
                <a:ea typeface="Arial"/>
                <a:cs typeface="Arial"/>
              </a:rPr>
              <a:t>Post-test</a:t>
            </a:r>
          </a:p>
        </p:txBody>
      </p:sp>
      <p:sp>
        <p:nvSpPr>
          <p:cNvPr id="14" name="text-40">
            <a:extLst xmlns:a="http://schemas.openxmlformats.org/drawingml/2006/main">
              <a:ext uri="{FF2B5EF4-FFF2-40B4-BE49-F238E27FC236}">
                <a16:creationId xmlns:a16="http://schemas.microsoft.com/office/drawing/2014/main" id="{4BF962F5-6C44-4B7F-B9C5-198906AFF913}"/>
              </a:ext>
            </a:extLst>
          </p:cNvPr>
          <p:cNvSpPr>
            <a:spLocks xmlns:a="http://schemas.openxmlformats.org/drawingml/2006/main" noGrp="1"/>
          </p:cNvSpPr>
          <p:nvPr/>
        </p:nvSpPr>
        <p:spPr>
          <a:xfrm xmlns:a="http://schemas.openxmlformats.org/drawingml/2006/main">
            <a:off x="8829675" y="3276600"/>
            <a:ext cx="23431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Mengerjakan tes akhir</a:t>
            </a:r>
          </a:p>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setelah seluruh materi tuntas.</a:t>
            </a:r>
          </a:p>
        </p:txBody>
      </p:sp>
      <p:sp>
        <p:nvSpPr>
          <p:cNvPr id="15" name="text-41">
            <a:extLst xmlns:a="http://schemas.openxmlformats.org/drawingml/2006/main">
              <a:ext uri="{FF2B5EF4-FFF2-40B4-BE49-F238E27FC236}">
                <a16:creationId xmlns:a16="http://schemas.microsoft.com/office/drawing/2014/main" id="{983A962B-1A16-422E-A14D-CA0EA2F3BEC7}"/>
              </a:ext>
            </a:extLst>
          </p:cNvPr>
          <p:cNvSpPr>
            <a:spLocks xmlns:a="http://schemas.openxmlformats.org/drawingml/2006/main" noGrp="1"/>
          </p:cNvSpPr>
          <p:nvPr/>
        </p:nvSpPr>
        <p:spPr>
          <a:xfrm xmlns:a="http://schemas.openxmlformats.org/drawingml/2006/main">
            <a:off x="685800" y="51054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4F46E5"/>
                </a:solidFill>
                <a:latin typeface="Arial"/>
                <a:ea typeface="Arial"/>
                <a:cs typeface="Arial"/>
              </a:defRPr>
            </a:pPr>
            <a:r>
              <a:rPr sz="2775" b="1">
                <a:solidFill>
                  <a:srgbClr val="4F46E5"/>
                </a:solidFill>
                <a:latin typeface="Arial"/>
                <a:ea typeface="Arial"/>
                <a:cs typeface="Arial"/>
              </a:rPr>
              <a:t>Membaca dan lulus latihan inti membuka materi berikutnya</a:t>
            </a:r>
          </a:p>
        </p:txBody>
      </p:sp>
    </p:spTree>
    <p:extLst>
      <p:ext uri="{BB962C8B-B14F-4D97-AF65-F5344CB8AC3E}">
        <p14:creationId xmlns:p14="http://schemas.microsoft.com/office/powerpoint/2010/main" val="11997506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42">
            <a:extLst xmlns:a="http://schemas.openxmlformats.org/drawingml/2006/main">
              <a:ext uri="{FF2B5EF4-FFF2-40B4-BE49-F238E27FC236}">
                <a16:creationId xmlns:a16="http://schemas.microsoft.com/office/drawing/2014/main" id="{FD0F25F8-2E23-4BA1-86A0-56F0F8B72E78}"/>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5223D"/>
                </a:solidFill>
                <a:latin typeface="Arial"/>
                <a:ea typeface="Arial"/>
                <a:cs typeface="Arial"/>
              </a:defRPr>
            </a:pPr>
            <a:r>
              <a:rPr sz="3450" b="1">
                <a:solidFill>
                  <a:srgbClr val="25223D"/>
                </a:solidFill>
                <a:latin typeface="Arial"/>
                <a:ea typeface="Arial"/>
                <a:cs typeface="Arial"/>
              </a:rPr>
              <a:t>11 materi dalam tiga kelompok</a:t>
            </a:r>
          </a:p>
        </p:txBody>
      </p:sp>
      <p:sp>
        <p:nvSpPr>
          <p:cNvPr id="2" name="text-43">
            <a:extLst xmlns:a="http://schemas.openxmlformats.org/drawingml/2006/main">
              <a:ext uri="{FF2B5EF4-FFF2-40B4-BE49-F238E27FC236}">
                <a16:creationId xmlns:a16="http://schemas.microsoft.com/office/drawing/2014/main" id="{9B01EC1C-B3E6-451F-AE38-5F976B699D5B}"/>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5E78"/>
                </a:solidFill>
                <a:latin typeface="Arial"/>
                <a:ea typeface="Arial"/>
                <a:cs typeface="Arial"/>
              </a:defRPr>
            </a:pPr>
            <a:r>
              <a:rPr sz="1275" b="0">
                <a:solidFill>
                  <a:srgbClr val="625E78"/>
                </a:solidFill>
                <a:latin typeface="Arial"/>
                <a:ea typeface="Arial"/>
                <a:cs typeface="Arial"/>
              </a:rPr>
              <a:t>05</a:t>
            </a:r>
          </a:p>
        </p:txBody>
      </p:sp>
      <p:sp>
        <p:nvSpPr>
          <p:cNvPr id="3" name="text-44">
            <a:extLst xmlns:a="http://schemas.openxmlformats.org/drawingml/2006/main">
              <a:ext uri="{FF2B5EF4-FFF2-40B4-BE49-F238E27FC236}">
                <a16:creationId xmlns:a16="http://schemas.microsoft.com/office/drawing/2014/main" id="{FE9D3FA9-91A3-4516-8CB4-76149205A0B1}"/>
              </a:ext>
            </a:extLst>
          </p:cNvPr>
          <p:cNvSpPr>
            <a:spLocks xmlns:a="http://schemas.openxmlformats.org/drawingml/2006/main" noGrp="1"/>
          </p:cNvSpPr>
          <p:nvPr/>
        </p:nvSpPr>
        <p:spPr>
          <a:xfrm xmlns:a="http://schemas.openxmlformats.org/drawingml/2006/main">
            <a:off x="685800" y="1857375"/>
            <a:ext cx="2724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4F46E5"/>
                </a:solidFill>
                <a:latin typeface="Arial"/>
                <a:ea typeface="Arial"/>
                <a:cs typeface="Arial"/>
              </a:defRPr>
            </a:pPr>
            <a:r>
              <a:rPr sz="3375" b="1">
                <a:solidFill>
                  <a:srgbClr val="4F46E5"/>
                </a:solidFill>
                <a:latin typeface="Arial"/>
                <a:ea typeface="Arial"/>
                <a:cs typeface="Arial"/>
              </a:rPr>
              <a:t>Relasi</a:t>
            </a:r>
          </a:p>
        </p:txBody>
      </p:sp>
      <p:sp>
        <p:nvSpPr>
          <p:cNvPr id="4" name="text-45">
            <a:extLst xmlns:a="http://schemas.openxmlformats.org/drawingml/2006/main">
              <a:ext uri="{FF2B5EF4-FFF2-40B4-BE49-F238E27FC236}">
                <a16:creationId xmlns:a16="http://schemas.microsoft.com/office/drawing/2014/main" id="{3E83C0F9-1879-4D24-BB05-3C2141412C5A}"/>
              </a:ext>
            </a:extLst>
          </p:cNvPr>
          <p:cNvSpPr>
            <a:spLocks xmlns:a="http://schemas.openxmlformats.org/drawingml/2006/main" noGrp="1"/>
          </p:cNvSpPr>
          <p:nvPr/>
        </p:nvSpPr>
        <p:spPr>
          <a:xfrm xmlns:a="http://schemas.openxmlformats.org/drawingml/2006/main">
            <a:off x="685800" y="2533650"/>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Materi 1–2</a:t>
            </a:r>
          </a:p>
        </p:txBody>
      </p:sp>
      <p:sp>
        <p:nvSpPr>
          <p:cNvPr id="5" name="text-46">
            <a:extLst xmlns:a="http://schemas.openxmlformats.org/drawingml/2006/main">
              <a:ext uri="{FF2B5EF4-FFF2-40B4-BE49-F238E27FC236}">
                <a16:creationId xmlns:a16="http://schemas.microsoft.com/office/drawing/2014/main" id="{C8D1666F-6F3C-4947-8F08-06F2F3FA6ABB}"/>
              </a:ext>
            </a:extLst>
          </p:cNvPr>
          <p:cNvSpPr>
            <a:spLocks xmlns:a="http://schemas.openxmlformats.org/drawingml/2006/main" noGrp="1"/>
          </p:cNvSpPr>
          <p:nvPr/>
        </p:nvSpPr>
        <p:spPr>
          <a:xfrm xmlns:a="http://schemas.openxmlformats.org/drawingml/2006/main">
            <a:off x="685800" y="3190875"/>
            <a:ext cx="2724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5223D"/>
                </a:solidFill>
                <a:latin typeface="Arial"/>
                <a:ea typeface="Arial"/>
                <a:cs typeface="Arial"/>
              </a:defRPr>
            </a:pPr>
            <a:r>
              <a:rPr sz="1875" b="0">
                <a:solidFill>
                  <a:srgbClr val="25223D"/>
                </a:solidFill>
                <a:latin typeface="Arial"/>
                <a:ea typeface="Arial"/>
                <a:cs typeface="Arial"/>
              </a:rPr>
              <a:t>Bentuk data</a:t>
            </a:r>
          </a:p>
        </p:txBody>
      </p:sp>
      <p:sp>
        <p:nvSpPr>
          <p:cNvPr id="6" name="text-47">
            <a:extLst xmlns:a="http://schemas.openxmlformats.org/drawingml/2006/main">
              <a:ext uri="{FF2B5EF4-FFF2-40B4-BE49-F238E27FC236}">
                <a16:creationId xmlns:a16="http://schemas.microsoft.com/office/drawing/2014/main" id="{BCE34491-E7AE-476D-A123-3702E7C7C3FE}"/>
              </a:ext>
            </a:extLst>
          </p:cNvPr>
          <p:cNvSpPr>
            <a:spLocks xmlns:a="http://schemas.openxmlformats.org/drawingml/2006/main" noGrp="1"/>
          </p:cNvSpPr>
          <p:nvPr/>
        </p:nvSpPr>
        <p:spPr>
          <a:xfrm xmlns:a="http://schemas.openxmlformats.org/drawingml/2006/main">
            <a:off x="685800" y="4095750"/>
            <a:ext cx="2724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5223D"/>
                </a:solidFill>
                <a:latin typeface="Arial"/>
                <a:ea typeface="Arial"/>
                <a:cs typeface="Arial"/>
              </a:defRPr>
            </a:pPr>
            <a:r>
              <a:rPr sz="1875" b="0">
                <a:solidFill>
                  <a:srgbClr val="25223D"/>
                </a:solidFill>
                <a:latin typeface="Arial"/>
                <a:ea typeface="Arial"/>
                <a:cs typeface="Arial"/>
              </a:rPr>
              <a:t>Key dan hubungan antartabel</a:t>
            </a:r>
          </a:p>
        </p:txBody>
      </p:sp>
      <p:sp>
        <p:nvSpPr>
          <p:cNvPr id="7" name="text-48">
            <a:extLst xmlns:a="http://schemas.openxmlformats.org/drawingml/2006/main">
              <a:ext uri="{FF2B5EF4-FFF2-40B4-BE49-F238E27FC236}">
                <a16:creationId xmlns:a16="http://schemas.microsoft.com/office/drawing/2014/main" id="{A4AEB7B2-E064-4935-9C67-D9D1EB4804A5}"/>
              </a:ext>
            </a:extLst>
          </p:cNvPr>
          <p:cNvSpPr>
            <a:spLocks xmlns:a="http://schemas.openxmlformats.org/drawingml/2006/main" noGrp="1"/>
          </p:cNvSpPr>
          <p:nvPr/>
        </p:nvSpPr>
        <p:spPr>
          <a:xfrm xmlns:a="http://schemas.openxmlformats.org/drawingml/2006/main">
            <a:off x="3962400" y="1857375"/>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4F46E5"/>
                </a:solidFill>
                <a:latin typeface="Arial"/>
                <a:ea typeface="Arial"/>
                <a:cs typeface="Arial"/>
              </a:defRPr>
            </a:pPr>
            <a:r>
              <a:rPr sz="3375" b="1">
                <a:solidFill>
                  <a:srgbClr val="4F46E5"/>
                </a:solidFill>
                <a:latin typeface="Arial"/>
                <a:ea typeface="Arial"/>
                <a:cs typeface="Arial"/>
              </a:rPr>
              <a:t>Read</a:t>
            </a:r>
          </a:p>
        </p:txBody>
      </p:sp>
      <p:sp>
        <p:nvSpPr>
          <p:cNvPr id="8" name="text-49">
            <a:extLst xmlns:a="http://schemas.openxmlformats.org/drawingml/2006/main">
              <a:ext uri="{FF2B5EF4-FFF2-40B4-BE49-F238E27FC236}">
                <a16:creationId xmlns:a16="http://schemas.microsoft.com/office/drawing/2014/main" id="{E49038C7-6CF5-4C41-A08A-9AFE1A09C950}"/>
              </a:ext>
            </a:extLst>
          </p:cNvPr>
          <p:cNvSpPr>
            <a:spLocks xmlns:a="http://schemas.openxmlformats.org/drawingml/2006/main" noGrp="1"/>
          </p:cNvSpPr>
          <p:nvPr/>
        </p:nvSpPr>
        <p:spPr>
          <a:xfrm xmlns:a="http://schemas.openxmlformats.org/drawingml/2006/main">
            <a:off x="3962400" y="25336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Materi 3–8</a:t>
            </a:r>
          </a:p>
        </p:txBody>
      </p:sp>
      <p:sp>
        <p:nvSpPr>
          <p:cNvPr id="9" name="text-50">
            <a:extLst xmlns:a="http://schemas.openxmlformats.org/drawingml/2006/main">
              <a:ext uri="{FF2B5EF4-FFF2-40B4-BE49-F238E27FC236}">
                <a16:creationId xmlns:a16="http://schemas.microsoft.com/office/drawing/2014/main" id="{484C83E7-9B70-4A4C-8C2D-125FF92934D9}"/>
              </a:ext>
            </a:extLst>
          </p:cNvPr>
          <p:cNvSpPr>
            <a:spLocks xmlns:a="http://schemas.openxmlformats.org/drawingml/2006/main" noGrp="1"/>
          </p:cNvSpPr>
          <p:nvPr/>
        </p:nvSpPr>
        <p:spPr>
          <a:xfrm xmlns:a="http://schemas.openxmlformats.org/drawingml/2006/main">
            <a:off x="3962400" y="3190875"/>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5223D"/>
                </a:solidFill>
                <a:latin typeface="Arial"/>
                <a:ea typeface="Arial"/>
                <a:cs typeface="Arial"/>
              </a:defRPr>
            </a:pPr>
            <a:r>
              <a:rPr sz="1875" b="0">
                <a:solidFill>
                  <a:srgbClr val="25223D"/>
                </a:solidFill>
                <a:latin typeface="Arial"/>
                <a:ea typeface="Arial"/>
                <a:cs typeface="Arial"/>
              </a:rPr>
              <a:t>Mengambil data dengan SELECT</a:t>
            </a:r>
          </a:p>
        </p:txBody>
      </p:sp>
      <p:sp>
        <p:nvSpPr>
          <p:cNvPr id="10" name="text-51">
            <a:extLst xmlns:a="http://schemas.openxmlformats.org/drawingml/2006/main">
              <a:ext uri="{FF2B5EF4-FFF2-40B4-BE49-F238E27FC236}">
                <a16:creationId xmlns:a16="http://schemas.microsoft.com/office/drawing/2014/main" id="{91D80280-6DA9-4281-B42C-DEDE476F230C}"/>
              </a:ext>
            </a:extLst>
          </p:cNvPr>
          <p:cNvSpPr>
            <a:spLocks xmlns:a="http://schemas.openxmlformats.org/drawingml/2006/main" noGrp="1"/>
          </p:cNvSpPr>
          <p:nvPr/>
        </p:nvSpPr>
        <p:spPr>
          <a:xfrm xmlns:a="http://schemas.openxmlformats.org/drawingml/2006/main">
            <a:off x="3962400" y="3648075"/>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5223D"/>
                </a:solidFill>
                <a:latin typeface="Arial"/>
                <a:ea typeface="Arial"/>
                <a:cs typeface="Arial"/>
              </a:defRPr>
            </a:pPr>
            <a:r>
              <a:rPr sz="1875" b="0">
                <a:solidFill>
                  <a:srgbClr val="25223D"/>
                </a:solidFill>
                <a:latin typeface="Arial"/>
                <a:ea typeface="Arial"/>
                <a:cs typeface="Arial"/>
              </a:rPr>
              <a:t>Memilih baris dengan WHERE</a:t>
            </a:r>
          </a:p>
        </p:txBody>
      </p:sp>
      <p:sp>
        <p:nvSpPr>
          <p:cNvPr id="11" name="text-52">
            <a:extLst xmlns:a="http://schemas.openxmlformats.org/drawingml/2006/main">
              <a:ext uri="{FF2B5EF4-FFF2-40B4-BE49-F238E27FC236}">
                <a16:creationId xmlns:a16="http://schemas.microsoft.com/office/drawing/2014/main" id="{3EC1D91F-0B08-42F8-BFB8-A62C6E47E9C4}"/>
              </a:ext>
            </a:extLst>
          </p:cNvPr>
          <p:cNvSpPr>
            <a:spLocks xmlns:a="http://schemas.openxmlformats.org/drawingml/2006/main" noGrp="1"/>
          </p:cNvSpPr>
          <p:nvPr/>
        </p:nvSpPr>
        <p:spPr>
          <a:xfrm xmlns:a="http://schemas.openxmlformats.org/drawingml/2006/main">
            <a:off x="3962400" y="4105275"/>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5223D"/>
                </a:solidFill>
                <a:latin typeface="Arial"/>
                <a:ea typeface="Arial"/>
                <a:cs typeface="Arial"/>
              </a:defRPr>
            </a:pPr>
            <a:r>
              <a:rPr sz="1875" b="0">
                <a:solidFill>
                  <a:srgbClr val="25223D"/>
                </a:solidFill>
                <a:latin typeface="Arial"/>
                <a:ea typeface="Arial"/>
                <a:cs typeface="Arial"/>
              </a:rPr>
              <a:t>Mengurutkan dan membatasi hasil</a:t>
            </a:r>
          </a:p>
        </p:txBody>
      </p:sp>
      <p:sp>
        <p:nvSpPr>
          <p:cNvPr id="12" name="text-53">
            <a:extLst xmlns:a="http://schemas.openxmlformats.org/drawingml/2006/main">
              <a:ext uri="{FF2B5EF4-FFF2-40B4-BE49-F238E27FC236}">
                <a16:creationId xmlns:a16="http://schemas.microsoft.com/office/drawing/2014/main" id="{56CF38EB-1ECD-4160-8EA9-FF6383ABB39D}"/>
              </a:ext>
            </a:extLst>
          </p:cNvPr>
          <p:cNvSpPr>
            <a:spLocks xmlns:a="http://schemas.openxmlformats.org/drawingml/2006/main" noGrp="1"/>
          </p:cNvSpPr>
          <p:nvPr/>
        </p:nvSpPr>
        <p:spPr>
          <a:xfrm xmlns:a="http://schemas.openxmlformats.org/drawingml/2006/main">
            <a:off x="3962400" y="4562475"/>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5223D"/>
                </a:solidFill>
                <a:latin typeface="Arial"/>
                <a:ea typeface="Arial"/>
                <a:cs typeface="Arial"/>
              </a:defRPr>
            </a:pPr>
            <a:r>
              <a:rPr sz="1875" b="0">
                <a:solidFill>
                  <a:srgbClr val="25223D"/>
                </a:solidFill>
                <a:latin typeface="Arial"/>
                <a:ea typeface="Arial"/>
                <a:cs typeface="Arial"/>
              </a:rPr>
              <a:t>Membaca relasi dengan JOIN</a:t>
            </a:r>
          </a:p>
        </p:txBody>
      </p:sp>
      <p:sp>
        <p:nvSpPr>
          <p:cNvPr id="13" name="text-54">
            <a:extLst xmlns:a="http://schemas.openxmlformats.org/drawingml/2006/main">
              <a:ext uri="{FF2B5EF4-FFF2-40B4-BE49-F238E27FC236}">
                <a16:creationId xmlns:a16="http://schemas.microsoft.com/office/drawing/2014/main" id="{FAF5AFAB-A2D4-439C-B0D8-C5348AA7D2AA}"/>
              </a:ext>
            </a:extLst>
          </p:cNvPr>
          <p:cNvSpPr>
            <a:spLocks xmlns:a="http://schemas.openxmlformats.org/drawingml/2006/main" noGrp="1"/>
          </p:cNvSpPr>
          <p:nvPr/>
        </p:nvSpPr>
        <p:spPr>
          <a:xfrm xmlns:a="http://schemas.openxmlformats.org/drawingml/2006/main">
            <a:off x="3962400" y="5019675"/>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5223D"/>
                </a:solidFill>
                <a:latin typeface="Arial"/>
                <a:ea typeface="Arial"/>
                <a:cs typeface="Arial"/>
              </a:defRPr>
            </a:pPr>
            <a:r>
              <a:rPr sz="1875" b="0">
                <a:solidFill>
                  <a:srgbClr val="25223D"/>
                </a:solidFill>
                <a:latin typeface="Arial"/>
                <a:ea typeface="Arial"/>
                <a:cs typeface="Arial"/>
              </a:rPr>
              <a:t>Membuat ringkasan data</a:t>
            </a:r>
          </a:p>
        </p:txBody>
      </p:sp>
      <p:sp>
        <p:nvSpPr>
          <p:cNvPr id="14" name="text-55">
            <a:extLst xmlns:a="http://schemas.openxmlformats.org/drawingml/2006/main">
              <a:ext uri="{FF2B5EF4-FFF2-40B4-BE49-F238E27FC236}">
                <a16:creationId xmlns:a16="http://schemas.microsoft.com/office/drawing/2014/main" id="{78251AE3-89D7-4977-B6F7-BDACBC1FFF1B}"/>
              </a:ext>
            </a:extLst>
          </p:cNvPr>
          <p:cNvSpPr>
            <a:spLocks xmlns:a="http://schemas.openxmlformats.org/drawingml/2006/main" noGrp="1"/>
          </p:cNvSpPr>
          <p:nvPr/>
        </p:nvSpPr>
        <p:spPr>
          <a:xfrm xmlns:a="http://schemas.openxmlformats.org/drawingml/2006/main">
            <a:off x="3962400" y="5476875"/>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5223D"/>
                </a:solidFill>
                <a:latin typeface="Arial"/>
                <a:ea typeface="Arial"/>
                <a:cs typeface="Arial"/>
              </a:defRPr>
            </a:pPr>
            <a:r>
              <a:rPr sz="1875" b="0">
                <a:solidFill>
                  <a:srgbClr val="25223D"/>
                </a:solidFill>
                <a:latin typeface="Arial"/>
                <a:ea typeface="Arial"/>
                <a:cs typeface="Arial"/>
              </a:rPr>
              <a:t>Investigasi query kampus</a:t>
            </a:r>
          </a:p>
        </p:txBody>
      </p:sp>
      <p:sp>
        <p:nvSpPr>
          <p:cNvPr id="15" name="text-56">
            <a:extLst xmlns:a="http://schemas.openxmlformats.org/drawingml/2006/main">
              <a:ext uri="{FF2B5EF4-FFF2-40B4-BE49-F238E27FC236}">
                <a16:creationId xmlns:a16="http://schemas.microsoft.com/office/drawing/2014/main" id="{027B988E-D88D-4542-983C-27E89F747B90}"/>
              </a:ext>
            </a:extLst>
          </p:cNvPr>
          <p:cNvSpPr>
            <a:spLocks xmlns:a="http://schemas.openxmlformats.org/drawingml/2006/main" noGrp="1"/>
          </p:cNvSpPr>
          <p:nvPr/>
        </p:nvSpPr>
        <p:spPr>
          <a:xfrm xmlns:a="http://schemas.openxmlformats.org/drawingml/2006/main">
            <a:off x="8629650" y="185737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4F46E5"/>
                </a:solidFill>
                <a:latin typeface="Arial"/>
                <a:ea typeface="Arial"/>
                <a:cs typeface="Arial"/>
              </a:defRPr>
            </a:pPr>
            <a:r>
              <a:rPr sz="3375" b="1">
                <a:solidFill>
                  <a:srgbClr val="4F46E5"/>
                </a:solidFill>
                <a:latin typeface="Arial"/>
                <a:ea typeface="Arial"/>
                <a:cs typeface="Arial"/>
              </a:rPr>
              <a:t>Write</a:t>
            </a:r>
          </a:p>
        </p:txBody>
      </p:sp>
      <p:sp>
        <p:nvSpPr>
          <p:cNvPr id="16" name="text-57">
            <a:extLst xmlns:a="http://schemas.openxmlformats.org/drawingml/2006/main">
              <a:ext uri="{FF2B5EF4-FFF2-40B4-BE49-F238E27FC236}">
                <a16:creationId xmlns:a16="http://schemas.microsoft.com/office/drawing/2014/main" id="{E0C20769-51D2-4962-AB66-8A96200F9200}"/>
              </a:ext>
            </a:extLst>
          </p:cNvPr>
          <p:cNvSpPr>
            <a:spLocks xmlns:a="http://schemas.openxmlformats.org/drawingml/2006/main" noGrp="1"/>
          </p:cNvSpPr>
          <p:nvPr/>
        </p:nvSpPr>
        <p:spPr>
          <a:xfrm xmlns:a="http://schemas.openxmlformats.org/drawingml/2006/main">
            <a:off x="8629650" y="2533650"/>
            <a:ext cx="2876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Materi 9–11</a:t>
            </a:r>
          </a:p>
        </p:txBody>
      </p:sp>
      <p:sp>
        <p:nvSpPr>
          <p:cNvPr id="17" name="text-58">
            <a:extLst xmlns:a="http://schemas.openxmlformats.org/drawingml/2006/main">
              <a:ext uri="{FF2B5EF4-FFF2-40B4-BE49-F238E27FC236}">
                <a16:creationId xmlns:a16="http://schemas.microsoft.com/office/drawing/2014/main" id="{3F516A7C-B60E-4CF3-B721-CB53F4EE73D6}"/>
              </a:ext>
            </a:extLst>
          </p:cNvPr>
          <p:cNvSpPr>
            <a:spLocks xmlns:a="http://schemas.openxmlformats.org/drawingml/2006/main" noGrp="1"/>
          </p:cNvSpPr>
          <p:nvPr/>
        </p:nvSpPr>
        <p:spPr>
          <a:xfrm xmlns:a="http://schemas.openxmlformats.org/drawingml/2006/main">
            <a:off x="8629650" y="3190875"/>
            <a:ext cx="2876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5223D"/>
                </a:solidFill>
                <a:latin typeface="Arial"/>
                <a:ea typeface="Arial"/>
                <a:cs typeface="Arial"/>
              </a:defRPr>
            </a:pPr>
            <a:r>
              <a:rPr sz="1875" b="0">
                <a:solidFill>
                  <a:srgbClr val="25223D"/>
                </a:solidFill>
                <a:latin typeface="Arial"/>
                <a:ea typeface="Arial"/>
                <a:cs typeface="Arial"/>
              </a:rPr>
              <a:t>Menambahkan record: INSERT</a:t>
            </a:r>
          </a:p>
        </p:txBody>
      </p:sp>
      <p:sp>
        <p:nvSpPr>
          <p:cNvPr id="18" name="text-59">
            <a:extLst xmlns:a="http://schemas.openxmlformats.org/drawingml/2006/main">
              <a:ext uri="{FF2B5EF4-FFF2-40B4-BE49-F238E27FC236}">
                <a16:creationId xmlns:a16="http://schemas.microsoft.com/office/drawing/2014/main" id="{63C1ECCA-0A3E-4D70-88B9-82A2949FC189}"/>
              </a:ext>
            </a:extLst>
          </p:cNvPr>
          <p:cNvSpPr>
            <a:spLocks xmlns:a="http://schemas.openxmlformats.org/drawingml/2006/main" noGrp="1"/>
          </p:cNvSpPr>
          <p:nvPr/>
        </p:nvSpPr>
        <p:spPr>
          <a:xfrm xmlns:a="http://schemas.openxmlformats.org/drawingml/2006/main">
            <a:off x="8629650" y="4095750"/>
            <a:ext cx="2876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5223D"/>
                </a:solidFill>
                <a:latin typeface="Arial"/>
                <a:ea typeface="Arial"/>
                <a:cs typeface="Arial"/>
              </a:defRPr>
            </a:pPr>
            <a:r>
              <a:rPr sz="1875" b="0">
                <a:solidFill>
                  <a:srgbClr val="25223D"/>
                </a:solidFill>
                <a:latin typeface="Arial"/>
                <a:ea typeface="Arial"/>
                <a:cs typeface="Arial"/>
              </a:rPr>
              <a:t>Mengubah record: UPDATE</a:t>
            </a:r>
          </a:p>
        </p:txBody>
      </p:sp>
      <p:sp>
        <p:nvSpPr>
          <p:cNvPr id="19" name="text-60">
            <a:extLst xmlns:a="http://schemas.openxmlformats.org/drawingml/2006/main">
              <a:ext uri="{FF2B5EF4-FFF2-40B4-BE49-F238E27FC236}">
                <a16:creationId xmlns:a16="http://schemas.microsoft.com/office/drawing/2014/main" id="{81B0209E-7A6E-4F42-8885-FE985E886D4B}"/>
              </a:ext>
            </a:extLst>
          </p:cNvPr>
          <p:cNvSpPr>
            <a:spLocks xmlns:a="http://schemas.openxmlformats.org/drawingml/2006/main" noGrp="1"/>
          </p:cNvSpPr>
          <p:nvPr/>
        </p:nvSpPr>
        <p:spPr>
          <a:xfrm xmlns:a="http://schemas.openxmlformats.org/drawingml/2006/main">
            <a:off x="8629650" y="5000625"/>
            <a:ext cx="2876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5223D"/>
                </a:solidFill>
                <a:latin typeface="Arial"/>
                <a:ea typeface="Arial"/>
                <a:cs typeface="Arial"/>
              </a:defRPr>
            </a:pPr>
            <a:r>
              <a:rPr sz="1875" b="0">
                <a:solidFill>
                  <a:srgbClr val="25223D"/>
                </a:solidFill>
                <a:latin typeface="Arial"/>
                <a:ea typeface="Arial"/>
                <a:cs typeface="Arial"/>
              </a:rPr>
              <a:t>Menghapus record: DELETE</a:t>
            </a:r>
          </a:p>
        </p:txBody>
      </p:sp>
    </p:spTree>
    <p:extLst>
      <p:ext uri="{BB962C8B-B14F-4D97-AF65-F5344CB8AC3E}">
        <p14:creationId xmlns:p14="http://schemas.microsoft.com/office/powerpoint/2010/main" val="1231521656"/>
      </p:ext>
    </p:extLst>
  </p:cSld>
</p:sld>
</file>

<file path=ppt/slides/slide6.xml><?xml version="1.0" encoding="utf-8"?>
<p:sld xmlns:p="http://schemas.openxmlformats.org/presentationml/2006/main">
  <p:cSld>
    <p:bg>
      <p:bgPr>
        <a:solidFill xmlns:a="http://schemas.openxmlformats.org/drawingml/2006/main">
          <a:srgbClr val="F8F7FC"/>
        </a:solidFill>
      </p:bgPr>
    </p:bg>
    <p:spTree>
      <p:nvGrpSpPr>
        <p:cNvPr id="1" name=""/>
        <p:cNvGrpSpPr/>
        <p:nvPr/>
      </p:nvGrpSpPr>
      <p:grpSpPr>
        <a:xfrm xmlns:a="http://schemas.openxmlformats.org/drawingml/2006/main"/>
      </p:grpSpPr>
      <p:sp>
        <p:nvSpPr>
          <p:cNvPr id="10" name="text-61">
            <a:extLst xmlns:a="http://schemas.openxmlformats.org/drawingml/2006/main">
              <a:ext uri="{FF2B5EF4-FFF2-40B4-BE49-F238E27FC236}">
                <a16:creationId xmlns:a16="http://schemas.microsoft.com/office/drawing/2014/main" id="{20A2109B-60BF-4CF7-954D-69837E47C660}"/>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5223D"/>
                </a:solidFill>
                <a:latin typeface="Arial"/>
                <a:ea typeface="Arial"/>
                <a:cs typeface="Arial"/>
              </a:defRPr>
            </a:pPr>
            <a:r>
              <a:rPr sz="3450" b="1">
                <a:solidFill>
                  <a:srgbClr val="25223D"/>
                </a:solidFill>
                <a:latin typeface="Arial"/>
                <a:ea typeface="Arial"/>
                <a:cs typeface="Arial"/>
              </a:rPr>
              <a:t>Materi memiliki ruang baca sendiri</a:t>
            </a:r>
          </a:p>
        </p:txBody>
      </p:sp>
      <p:sp>
        <p:nvSpPr>
          <p:cNvPr id="2" name="text-62">
            <a:extLst xmlns:a="http://schemas.openxmlformats.org/drawingml/2006/main">
              <a:ext uri="{FF2B5EF4-FFF2-40B4-BE49-F238E27FC236}">
                <a16:creationId xmlns:a16="http://schemas.microsoft.com/office/drawing/2014/main" id="{51E70612-D27F-4CC2-ACD2-A2F35D8E2368}"/>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5E78"/>
                </a:solidFill>
                <a:latin typeface="Arial"/>
                <a:ea typeface="Arial"/>
                <a:cs typeface="Arial"/>
              </a:defRPr>
            </a:pPr>
            <a:r>
              <a:rPr sz="1275" b="0">
                <a:solidFill>
                  <a:srgbClr val="625E78"/>
                </a:solidFill>
                <a:latin typeface="Arial"/>
                <a:ea typeface="Arial"/>
                <a:cs typeface="Arial"/>
              </a:rPr>
              <a:t>06</a:t>
            </a:r>
          </a:p>
        </p:txBody>
      </p:sp>
      <p:sp>
        <p:nvSpPr>
          <p:cNvPr id="3" name="text-63">
            <a:extLst xmlns:a="http://schemas.openxmlformats.org/drawingml/2006/main">
              <a:ext uri="{FF2B5EF4-FFF2-40B4-BE49-F238E27FC236}">
                <a16:creationId xmlns:a16="http://schemas.microsoft.com/office/drawing/2014/main" id="{ADFCD69A-EA07-43DE-A2BB-F2368ECE755C}"/>
              </a:ext>
            </a:extLst>
          </p:cNvPr>
          <p:cNvSpPr>
            <a:spLocks xmlns:a="http://schemas.openxmlformats.org/drawingml/2006/main" noGrp="1"/>
          </p:cNvSpPr>
          <p:nvPr/>
        </p:nvSpPr>
        <p:spPr>
          <a:xfrm xmlns:a="http://schemas.openxmlformats.org/drawingml/2006/main">
            <a:off x="685800" y="18764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5223D"/>
                </a:solidFill>
                <a:latin typeface="Arial"/>
                <a:ea typeface="Arial"/>
                <a:cs typeface="Arial"/>
              </a:defRPr>
            </a:pPr>
            <a:r>
              <a:rPr sz="2175" b="1">
                <a:solidFill>
                  <a:srgbClr val="25223D"/>
                </a:solidFill>
                <a:latin typeface="Arial"/>
                <a:ea typeface="Arial"/>
                <a:cs typeface="Arial"/>
              </a:rPr>
              <a:t>Penjelasan yang terarah</a:t>
            </a:r>
          </a:p>
        </p:txBody>
      </p:sp>
      <p:sp>
        <p:nvSpPr>
          <p:cNvPr id="4" name="text-64">
            <a:extLst xmlns:a="http://schemas.openxmlformats.org/drawingml/2006/main">
              <a:ext uri="{FF2B5EF4-FFF2-40B4-BE49-F238E27FC236}">
                <a16:creationId xmlns:a16="http://schemas.microsoft.com/office/drawing/2014/main" id="{02CBC893-8D03-4EE1-9F2E-5184EF2642E3}"/>
              </a:ext>
            </a:extLst>
          </p:cNvPr>
          <p:cNvSpPr>
            <a:spLocks xmlns:a="http://schemas.openxmlformats.org/drawingml/2006/main" noGrp="1"/>
          </p:cNvSpPr>
          <p:nvPr/>
        </p:nvSpPr>
        <p:spPr>
          <a:xfrm xmlns:a="http://schemas.openxmlformats.org/drawingml/2006/main">
            <a:off x="685800" y="2295525"/>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Konsep, contoh, dan rangkuman berada pada satu halaman.</a:t>
            </a:r>
          </a:p>
        </p:txBody>
      </p:sp>
      <p:sp>
        <p:nvSpPr>
          <p:cNvPr id="5" name="text-65">
            <a:extLst xmlns:a="http://schemas.openxmlformats.org/drawingml/2006/main">
              <a:ext uri="{FF2B5EF4-FFF2-40B4-BE49-F238E27FC236}">
                <a16:creationId xmlns:a16="http://schemas.microsoft.com/office/drawing/2014/main" id="{79F04092-7355-4E0C-8461-57FB864274B6}"/>
              </a:ext>
            </a:extLst>
          </p:cNvPr>
          <p:cNvSpPr>
            <a:spLocks xmlns:a="http://schemas.openxmlformats.org/drawingml/2006/main" noGrp="1"/>
          </p:cNvSpPr>
          <p:nvPr/>
        </p:nvSpPr>
        <p:spPr>
          <a:xfrm xmlns:a="http://schemas.openxmlformats.org/drawingml/2006/main">
            <a:off x="685800" y="32670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5223D"/>
                </a:solidFill>
                <a:latin typeface="Arial"/>
                <a:ea typeface="Arial"/>
                <a:cs typeface="Arial"/>
              </a:defRPr>
            </a:pPr>
            <a:r>
              <a:rPr sz="2175" b="1">
                <a:solidFill>
                  <a:srgbClr val="25223D"/>
                </a:solidFill>
                <a:latin typeface="Arial"/>
                <a:ea typeface="Arial"/>
                <a:cs typeface="Arial"/>
              </a:rPr>
              <a:t>PDF untuk belajar kembali</a:t>
            </a:r>
          </a:p>
        </p:txBody>
      </p:sp>
      <p:sp>
        <p:nvSpPr>
          <p:cNvPr id="6" name="text-66">
            <a:extLst xmlns:a="http://schemas.openxmlformats.org/drawingml/2006/main">
              <a:ext uri="{FF2B5EF4-FFF2-40B4-BE49-F238E27FC236}">
                <a16:creationId xmlns:a16="http://schemas.microsoft.com/office/drawing/2014/main" id="{08178163-2C53-4734-9901-7FE8EB73308F}"/>
              </a:ext>
            </a:extLst>
          </p:cNvPr>
          <p:cNvSpPr>
            <a:spLocks xmlns:a="http://schemas.openxmlformats.org/drawingml/2006/main" noGrp="1"/>
          </p:cNvSpPr>
          <p:nvPr/>
        </p:nvSpPr>
        <p:spPr>
          <a:xfrm xmlns:a="http://schemas.openxmlformats.org/drawingml/2006/main">
            <a:off x="685800" y="3686175"/>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Mahasiswa dapat mengunduh materi untuk dibaca ulang.</a:t>
            </a:r>
          </a:p>
        </p:txBody>
      </p:sp>
      <p:sp>
        <p:nvSpPr>
          <p:cNvPr id="7" name="text-67">
            <a:extLst xmlns:a="http://schemas.openxmlformats.org/drawingml/2006/main">
              <a:ext uri="{FF2B5EF4-FFF2-40B4-BE49-F238E27FC236}">
                <a16:creationId xmlns:a16="http://schemas.microsoft.com/office/drawing/2014/main" id="{ED58EF43-1617-44EE-BA12-C3C7D10E607F}"/>
              </a:ext>
            </a:extLst>
          </p:cNvPr>
          <p:cNvSpPr>
            <a:spLocks xmlns:a="http://schemas.openxmlformats.org/drawingml/2006/main" noGrp="1"/>
          </p:cNvSpPr>
          <p:nvPr/>
        </p:nvSpPr>
        <p:spPr>
          <a:xfrm xmlns:a="http://schemas.openxmlformats.org/drawingml/2006/main">
            <a:off x="685800" y="46577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5223D"/>
                </a:solidFill>
                <a:latin typeface="Arial"/>
                <a:ea typeface="Arial"/>
                <a:cs typeface="Arial"/>
              </a:defRPr>
            </a:pPr>
            <a:r>
              <a:rPr sz="2175" b="1">
                <a:solidFill>
                  <a:srgbClr val="25223D"/>
                </a:solidFill>
                <a:latin typeface="Arial"/>
                <a:ea typeface="Arial"/>
                <a:cs typeface="Arial"/>
              </a:rPr>
              <a:t>Video sebagai pendamping</a:t>
            </a:r>
          </a:p>
        </p:txBody>
      </p:sp>
      <p:sp>
        <p:nvSpPr>
          <p:cNvPr id="8" name="text-68">
            <a:extLst xmlns:a="http://schemas.openxmlformats.org/drawingml/2006/main">
              <a:ext uri="{FF2B5EF4-FFF2-40B4-BE49-F238E27FC236}">
                <a16:creationId xmlns:a16="http://schemas.microsoft.com/office/drawing/2014/main" id="{F49FB516-65CE-4DDA-8650-968247CBDAA8}"/>
              </a:ext>
            </a:extLst>
          </p:cNvPr>
          <p:cNvSpPr>
            <a:spLocks xmlns:a="http://schemas.openxmlformats.org/drawingml/2006/main" noGrp="1"/>
          </p:cNvSpPr>
          <p:nvPr/>
        </p:nvSpPr>
        <p:spPr>
          <a:xfrm xmlns:a="http://schemas.openxmlformats.org/drawingml/2006/main">
            <a:off x="685800" y="5076825"/>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Beberapa materi menyediakan video berbahasa Indonesia.</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2b0a119c38946a4"/>
          <a:stretch xmlns:a="http://schemas.openxmlformats.org/drawingml/2006/main"/>
        </p:blipFill>
        <p:spPr>
          <a:xfrm xmlns:a="http://schemas.openxmlformats.org/drawingml/2006/main">
            <a:off x="5267325" y="1757040"/>
            <a:ext cx="6238875" cy="4229746"/>
          </a:xfrm>
          <a:prstGeom xmlns:a="http://schemas.openxmlformats.org/drawingml/2006/main" prst="rect">
            <a:avLst/>
          </a:prstGeom>
        </p:spPr>
      </p:pic>
    </p:spTree>
    <p:extLst>
      <p:ext uri="{BB962C8B-B14F-4D97-AF65-F5344CB8AC3E}">
        <p14:creationId xmlns:p14="http://schemas.microsoft.com/office/powerpoint/2010/main" val="13898733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69">
            <a:extLst xmlns:a="http://schemas.openxmlformats.org/drawingml/2006/main">
              <a:ext uri="{FF2B5EF4-FFF2-40B4-BE49-F238E27FC236}">
                <a16:creationId xmlns:a16="http://schemas.microsoft.com/office/drawing/2014/main" id="{D3F6C62A-3EBB-4BFA-BB06-662F6D5B8289}"/>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5223D"/>
                </a:solidFill>
                <a:latin typeface="Arial"/>
                <a:ea typeface="Arial"/>
                <a:cs typeface="Arial"/>
              </a:defRPr>
            </a:pPr>
            <a:r>
              <a:rPr sz="3450" b="1">
                <a:solidFill>
                  <a:srgbClr val="25223D"/>
                </a:solidFill>
                <a:latin typeface="Arial"/>
                <a:ea typeface="Arial"/>
                <a:cs typeface="Arial"/>
              </a:rPr>
              <a:t>Lab Materi menghubungkan konsep dan praktik</a:t>
            </a:r>
          </a:p>
        </p:txBody>
      </p:sp>
      <p:sp>
        <p:nvSpPr>
          <p:cNvPr id="2" name="text-70">
            <a:extLst xmlns:a="http://schemas.openxmlformats.org/drawingml/2006/main">
              <a:ext uri="{FF2B5EF4-FFF2-40B4-BE49-F238E27FC236}">
                <a16:creationId xmlns:a16="http://schemas.microsoft.com/office/drawing/2014/main" id="{7DCBF117-8803-448C-A009-7A5093736042}"/>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5E78"/>
                </a:solidFill>
                <a:latin typeface="Arial"/>
                <a:ea typeface="Arial"/>
                <a:cs typeface="Arial"/>
              </a:defRPr>
            </a:pPr>
            <a:r>
              <a:rPr sz="1275" b="0">
                <a:solidFill>
                  <a:srgbClr val="625E78"/>
                </a:solidFill>
                <a:latin typeface="Arial"/>
                <a:ea typeface="Arial"/>
                <a:cs typeface="Arial"/>
              </a:rPr>
              <a:t>07</a:t>
            </a:r>
          </a:p>
        </p:txBody>
      </p:sp>
      <p:sp>
        <p:nvSpPr>
          <p:cNvPr id="3" name="text-71">
            <a:extLst xmlns:a="http://schemas.openxmlformats.org/drawingml/2006/main">
              <a:ext uri="{FF2B5EF4-FFF2-40B4-BE49-F238E27FC236}">
                <a16:creationId xmlns:a16="http://schemas.microsoft.com/office/drawing/2014/main" id="{310637B5-A11F-4728-9652-EA249132AB0E}"/>
              </a:ext>
            </a:extLst>
          </p:cNvPr>
          <p:cNvSpPr>
            <a:spLocks xmlns:a="http://schemas.openxmlformats.org/drawingml/2006/main" noGrp="1"/>
          </p:cNvSpPr>
          <p:nvPr/>
        </p:nvSpPr>
        <p:spPr>
          <a:xfrm xmlns:a="http://schemas.openxmlformats.org/drawingml/2006/main">
            <a:off x="685800" y="1838325"/>
            <a:ext cx="385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5223D"/>
                </a:solidFill>
                <a:latin typeface="Arial"/>
                <a:ea typeface="Arial"/>
                <a:cs typeface="Arial"/>
              </a:defRPr>
            </a:pPr>
            <a:r>
              <a:rPr sz="2175" b="1">
                <a:solidFill>
                  <a:srgbClr val="25223D"/>
                </a:solidFill>
                <a:latin typeface="Arial"/>
                <a:ea typeface="Arial"/>
                <a:cs typeface="Arial"/>
              </a:rPr>
              <a:t>Skema visual 2D</a:t>
            </a:r>
          </a:p>
        </p:txBody>
      </p:sp>
      <p:sp>
        <p:nvSpPr>
          <p:cNvPr id="4" name="text-72">
            <a:extLst xmlns:a="http://schemas.openxmlformats.org/drawingml/2006/main">
              <a:ext uri="{FF2B5EF4-FFF2-40B4-BE49-F238E27FC236}">
                <a16:creationId xmlns:a16="http://schemas.microsoft.com/office/drawing/2014/main" id="{2E1696CB-035A-4DDB-A372-A7904ECF9E8B}"/>
              </a:ext>
            </a:extLst>
          </p:cNvPr>
          <p:cNvSpPr>
            <a:spLocks xmlns:a="http://schemas.openxmlformats.org/drawingml/2006/main" noGrp="1"/>
          </p:cNvSpPr>
          <p:nvPr/>
        </p:nvSpPr>
        <p:spPr>
          <a:xfrm xmlns:a="http://schemas.openxmlformats.org/drawingml/2006/main">
            <a:off x="685800" y="2257425"/>
            <a:ext cx="3857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Tabel menampilkan kolom serta hubungan primary key dan foreign key.</a:t>
            </a:r>
          </a:p>
        </p:txBody>
      </p:sp>
      <p:sp>
        <p:nvSpPr>
          <p:cNvPr id="5" name="text-73">
            <a:extLst xmlns:a="http://schemas.openxmlformats.org/drawingml/2006/main">
              <a:ext uri="{FF2B5EF4-FFF2-40B4-BE49-F238E27FC236}">
                <a16:creationId xmlns:a16="http://schemas.microsoft.com/office/drawing/2014/main" id="{76213F3A-BD46-40B6-A9A4-8532AA2D3461}"/>
              </a:ext>
            </a:extLst>
          </p:cNvPr>
          <p:cNvSpPr>
            <a:spLocks xmlns:a="http://schemas.openxmlformats.org/drawingml/2006/main" noGrp="1"/>
          </p:cNvSpPr>
          <p:nvPr/>
        </p:nvSpPr>
        <p:spPr>
          <a:xfrm xmlns:a="http://schemas.openxmlformats.org/drawingml/2006/main">
            <a:off x="685800" y="3314700"/>
            <a:ext cx="385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5223D"/>
                </a:solidFill>
                <a:latin typeface="Arial"/>
                <a:ea typeface="Arial"/>
                <a:cs typeface="Arial"/>
              </a:defRPr>
            </a:pPr>
            <a:r>
              <a:rPr sz="2175" b="1">
                <a:solidFill>
                  <a:srgbClr val="25223D"/>
                </a:solidFill>
                <a:latin typeface="Arial"/>
                <a:ea typeface="Arial"/>
                <a:cs typeface="Arial"/>
              </a:rPr>
              <a:t>Query dan hasil terpisah</a:t>
            </a:r>
          </a:p>
        </p:txBody>
      </p:sp>
      <p:sp>
        <p:nvSpPr>
          <p:cNvPr id="6" name="text-74">
            <a:extLst xmlns:a="http://schemas.openxmlformats.org/drawingml/2006/main">
              <a:ext uri="{FF2B5EF4-FFF2-40B4-BE49-F238E27FC236}">
                <a16:creationId xmlns:a16="http://schemas.microsoft.com/office/drawing/2014/main" id="{9A40B3BE-56A7-4A36-B890-9489F1865D35}"/>
              </a:ext>
            </a:extLst>
          </p:cNvPr>
          <p:cNvSpPr>
            <a:spLocks xmlns:a="http://schemas.openxmlformats.org/drawingml/2006/main" noGrp="1"/>
          </p:cNvSpPr>
          <p:nvPr/>
        </p:nvSpPr>
        <p:spPr>
          <a:xfrm xmlns:a="http://schemas.openxmlformats.org/drawingml/2006/main">
            <a:off x="685800" y="3733800"/>
            <a:ext cx="3857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Susunan tabel, query, lalu hasil membantu mengikuti proses.</a:t>
            </a:r>
          </a:p>
        </p:txBody>
      </p:sp>
      <p:sp>
        <p:nvSpPr>
          <p:cNvPr id="7" name="text-75">
            <a:extLst xmlns:a="http://schemas.openxmlformats.org/drawingml/2006/main">
              <a:ext uri="{FF2B5EF4-FFF2-40B4-BE49-F238E27FC236}">
                <a16:creationId xmlns:a16="http://schemas.microsoft.com/office/drawing/2014/main" id="{D1FED585-7137-4333-982B-6C8014F794FB}"/>
              </a:ext>
            </a:extLst>
          </p:cNvPr>
          <p:cNvSpPr>
            <a:spLocks xmlns:a="http://schemas.openxmlformats.org/drawingml/2006/main" noGrp="1"/>
          </p:cNvSpPr>
          <p:nvPr/>
        </p:nvSpPr>
        <p:spPr>
          <a:xfrm xmlns:a="http://schemas.openxmlformats.org/drawingml/2006/main">
            <a:off x="685800" y="4791075"/>
            <a:ext cx="385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5223D"/>
                </a:solidFill>
                <a:latin typeface="Arial"/>
                <a:ea typeface="Arial"/>
                <a:cs typeface="Arial"/>
              </a:defRPr>
            </a:pPr>
            <a:r>
              <a:rPr sz="2175" b="1">
                <a:solidFill>
                  <a:srgbClr val="25223D"/>
                </a:solidFill>
                <a:latin typeface="Arial"/>
                <a:ea typeface="Arial"/>
                <a:cs typeface="Arial"/>
              </a:rPr>
              <a:t>Latihan inti</a:t>
            </a:r>
          </a:p>
        </p:txBody>
      </p:sp>
      <p:sp>
        <p:nvSpPr>
          <p:cNvPr id="8" name="text-76">
            <a:extLst xmlns:a="http://schemas.openxmlformats.org/drawingml/2006/main">
              <a:ext uri="{FF2B5EF4-FFF2-40B4-BE49-F238E27FC236}">
                <a16:creationId xmlns:a16="http://schemas.microsoft.com/office/drawing/2014/main" id="{98F65710-64A1-4456-BAAA-388AFDEF03AB}"/>
              </a:ext>
            </a:extLst>
          </p:cNvPr>
          <p:cNvSpPr>
            <a:spLocks xmlns:a="http://schemas.openxmlformats.org/drawingml/2006/main" noGrp="1"/>
          </p:cNvSpPr>
          <p:nvPr/>
        </p:nvSpPr>
        <p:spPr>
          <a:xfrm xmlns:a="http://schemas.openxmlformats.org/drawingml/2006/main">
            <a:off x="685800" y="5210175"/>
            <a:ext cx="3857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Pemeriksaan hasil menentukan ketuntasan materi.</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87d45205c984da5"/>
          <a:stretch xmlns:a="http://schemas.openxmlformats.org/drawingml/2006/main"/>
        </p:blipFill>
        <p:spPr>
          <a:xfrm xmlns:a="http://schemas.openxmlformats.org/drawingml/2006/main">
            <a:off x="6152578" y="1762125"/>
            <a:ext cx="4011169" cy="4457700"/>
          </a:xfrm>
          <a:prstGeom xmlns:a="http://schemas.openxmlformats.org/drawingml/2006/main" prst="rect">
            <a:avLst/>
          </a:prstGeom>
        </p:spPr>
      </p:pic>
    </p:spTree>
    <p:extLst>
      <p:ext uri="{BB962C8B-B14F-4D97-AF65-F5344CB8AC3E}">
        <p14:creationId xmlns:p14="http://schemas.microsoft.com/office/powerpoint/2010/main" val="544186231"/>
      </p:ext>
    </p:extLst>
  </p:cSld>
</p:sld>
</file>

<file path=ppt/slides/slide8.xml><?xml version="1.0" encoding="utf-8"?>
<p:sld xmlns:p="http://schemas.openxmlformats.org/presentationml/2006/main">
  <p:cSld>
    <p:bg>
      <p:bgPr>
        <a:solidFill xmlns:a="http://schemas.openxmlformats.org/drawingml/2006/main">
          <a:srgbClr val="F8F7FC"/>
        </a:solidFill>
      </p:bgPr>
    </p:bg>
    <p:spTree>
      <p:nvGrpSpPr>
        <p:cNvPr id="1" name=""/>
        <p:cNvGrpSpPr/>
        <p:nvPr/>
      </p:nvGrpSpPr>
      <p:grpSpPr>
        <a:xfrm xmlns:a="http://schemas.openxmlformats.org/drawingml/2006/main"/>
      </p:grpSpPr>
      <p:sp>
        <p:nvSpPr>
          <p:cNvPr id="9" name="text-77">
            <a:extLst xmlns:a="http://schemas.openxmlformats.org/drawingml/2006/main">
              <a:ext uri="{FF2B5EF4-FFF2-40B4-BE49-F238E27FC236}">
                <a16:creationId xmlns:a16="http://schemas.microsoft.com/office/drawing/2014/main" id="{1929BC12-C8C5-4671-BAA8-097BAC8E387B}"/>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5223D"/>
                </a:solidFill>
                <a:latin typeface="Arial"/>
                <a:ea typeface="Arial"/>
                <a:cs typeface="Arial"/>
              </a:defRPr>
            </a:pPr>
            <a:r>
              <a:rPr sz="3450" b="1">
                <a:solidFill>
                  <a:srgbClr val="25223D"/>
                </a:solidFill>
                <a:latin typeface="Arial"/>
                <a:ea typeface="Arial"/>
                <a:cs typeface="Arial"/>
              </a:rPr>
              <a:t>SQLab untuk database buatan sendiri</a:t>
            </a:r>
          </a:p>
        </p:txBody>
      </p:sp>
      <p:sp>
        <p:nvSpPr>
          <p:cNvPr id="2" name="text-78">
            <a:extLst xmlns:a="http://schemas.openxmlformats.org/drawingml/2006/main">
              <a:ext uri="{FF2B5EF4-FFF2-40B4-BE49-F238E27FC236}">
                <a16:creationId xmlns:a16="http://schemas.microsoft.com/office/drawing/2014/main" id="{7FF7B45F-81B0-4255-B255-9A85E88C55D5}"/>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5E78"/>
                </a:solidFill>
                <a:latin typeface="Arial"/>
                <a:ea typeface="Arial"/>
                <a:cs typeface="Arial"/>
              </a:defRPr>
            </a:pPr>
            <a:r>
              <a:rPr sz="1275" b="0">
                <a:solidFill>
                  <a:srgbClr val="625E78"/>
                </a:solidFill>
                <a:latin typeface="Arial"/>
                <a:ea typeface="Arial"/>
                <a:cs typeface="Arial"/>
              </a:rPr>
              <a:t>08</a:t>
            </a:r>
          </a:p>
        </p:txBody>
      </p:sp>
      <p:sp>
        <p:nvSpPr>
          <p:cNvPr id="3" name="text-79">
            <a:extLst xmlns:a="http://schemas.openxmlformats.org/drawingml/2006/main">
              <a:ext uri="{FF2B5EF4-FFF2-40B4-BE49-F238E27FC236}">
                <a16:creationId xmlns:a16="http://schemas.microsoft.com/office/drawing/2014/main" id="{F546D2C5-83ED-4E64-87B7-DF29F850D3DD}"/>
              </a:ext>
            </a:extLst>
          </p:cNvPr>
          <p:cNvSpPr>
            <a:spLocks xmlns:a="http://schemas.openxmlformats.org/drawingml/2006/main" noGrp="1"/>
          </p:cNvSpPr>
          <p:nvPr/>
        </p:nvSpPr>
        <p:spPr>
          <a:xfrm xmlns:a="http://schemas.openxmlformats.org/drawingml/2006/main">
            <a:off x="685800" y="18859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5223D"/>
                </a:solidFill>
                <a:latin typeface="Arial"/>
                <a:ea typeface="Arial"/>
                <a:cs typeface="Arial"/>
              </a:defRPr>
            </a:pPr>
            <a:r>
              <a:rPr sz="2400" b="1">
                <a:solidFill>
                  <a:srgbClr val="25223D"/>
                </a:solidFill>
                <a:latin typeface="Arial"/>
                <a:ea typeface="Arial"/>
                <a:cs typeface="Arial"/>
              </a:rPr>
              <a:t>Buat tabel dan relasi</a:t>
            </a:r>
          </a:p>
        </p:txBody>
      </p:sp>
      <p:sp>
        <p:nvSpPr>
          <p:cNvPr id="4" name="text-80">
            <a:extLst xmlns:a="http://schemas.openxmlformats.org/drawingml/2006/main">
              <a:ext uri="{FF2B5EF4-FFF2-40B4-BE49-F238E27FC236}">
                <a16:creationId xmlns:a16="http://schemas.microsoft.com/office/drawing/2014/main" id="{F72FA912-4A8E-45D1-B368-C0FB07040B59}"/>
              </a:ext>
            </a:extLst>
          </p:cNvPr>
          <p:cNvSpPr>
            <a:spLocks xmlns:a="http://schemas.openxmlformats.org/drawingml/2006/main" noGrp="1"/>
          </p:cNvSpPr>
          <p:nvPr/>
        </p:nvSpPr>
        <p:spPr>
          <a:xfrm xmlns:a="http://schemas.openxmlformats.org/drawingml/2006/main">
            <a:off x="685800" y="254317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625E78"/>
                </a:solidFill>
                <a:latin typeface="Arial"/>
                <a:ea typeface="Arial"/>
                <a:cs typeface="Arial"/>
              </a:defRPr>
            </a:pPr>
            <a:r>
              <a:rPr sz="2025" b="0">
                <a:solidFill>
                  <a:srgbClr val="625E78"/>
                </a:solidFill>
                <a:latin typeface="Arial"/>
                <a:ea typeface="Arial"/>
                <a:cs typeface="Arial"/>
              </a:rPr>
              <a:t>Isi record sesuai kasus yang ingin dicoba.</a:t>
            </a:r>
          </a:p>
        </p:txBody>
      </p:sp>
      <p:sp>
        <p:nvSpPr>
          <p:cNvPr id="5" name="text-81">
            <a:extLst xmlns:a="http://schemas.openxmlformats.org/drawingml/2006/main">
              <a:ext uri="{FF2B5EF4-FFF2-40B4-BE49-F238E27FC236}">
                <a16:creationId xmlns:a16="http://schemas.microsoft.com/office/drawing/2014/main" id="{A4029257-C6D8-4979-AAF5-A3C451B36EA1}"/>
              </a:ext>
            </a:extLst>
          </p:cNvPr>
          <p:cNvSpPr>
            <a:spLocks xmlns:a="http://schemas.openxmlformats.org/drawingml/2006/main" noGrp="1"/>
          </p:cNvSpPr>
          <p:nvPr/>
        </p:nvSpPr>
        <p:spPr>
          <a:xfrm xmlns:a="http://schemas.openxmlformats.org/drawingml/2006/main">
            <a:off x="685800" y="363855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5223D"/>
                </a:solidFill>
                <a:latin typeface="Arial"/>
                <a:ea typeface="Arial"/>
                <a:cs typeface="Arial"/>
              </a:defRPr>
            </a:pPr>
            <a:r>
              <a:rPr sz="2400" b="1">
                <a:solidFill>
                  <a:srgbClr val="25223D"/>
                </a:solidFill>
                <a:latin typeface="Arial"/>
                <a:ea typeface="Arial"/>
                <a:cs typeface="Arial"/>
              </a:rPr>
              <a:t>Jalankan query pada data tersebut</a:t>
            </a:r>
          </a:p>
        </p:txBody>
      </p:sp>
      <p:sp>
        <p:nvSpPr>
          <p:cNvPr id="6" name="text-82">
            <a:extLst xmlns:a="http://schemas.openxmlformats.org/drawingml/2006/main">
              <a:ext uri="{FF2B5EF4-FFF2-40B4-BE49-F238E27FC236}">
                <a16:creationId xmlns:a16="http://schemas.microsoft.com/office/drawing/2014/main" id="{6D3811B8-FE0C-483D-B86B-4329B42BF487}"/>
              </a:ext>
            </a:extLst>
          </p:cNvPr>
          <p:cNvSpPr>
            <a:spLocks xmlns:a="http://schemas.openxmlformats.org/drawingml/2006/main" noGrp="1"/>
          </p:cNvSpPr>
          <p:nvPr/>
        </p:nvSpPr>
        <p:spPr>
          <a:xfrm xmlns:a="http://schemas.openxmlformats.org/drawingml/2006/main">
            <a:off x="685800" y="4524375"/>
            <a:ext cx="4857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625E78"/>
                </a:solidFill>
                <a:latin typeface="Arial"/>
                <a:ea typeface="Arial"/>
                <a:cs typeface="Arial"/>
              </a:defRPr>
            </a:pPr>
            <a:r>
              <a:rPr sz="2025" b="0">
                <a:solidFill>
                  <a:srgbClr val="625E78"/>
                </a:solidFill>
                <a:latin typeface="Arial"/>
                <a:ea typeface="Arial"/>
                <a:cs typeface="Arial"/>
              </a:rPr>
              <a:t>AI dapat menyiapkan draf database.</a:t>
            </a:r>
          </a:p>
          <a:p xmlns:a="http://schemas.openxmlformats.org/drawingml/2006/main">
            <a:pPr>
              <a:defRPr sz="2025" b="0">
                <a:solidFill>
                  <a:srgbClr val="625E78"/>
                </a:solidFill>
                <a:latin typeface="Arial"/>
                <a:ea typeface="Arial"/>
                <a:cs typeface="Arial"/>
              </a:defRPr>
            </a:pPr>
            <a:r>
              <a:rPr sz="2025" b="0">
                <a:solidFill>
                  <a:srgbClr val="625E78"/>
                </a:solidFill>
                <a:latin typeface="Arial"/>
                <a:ea typeface="Arial"/>
                <a:cs typeface="Arial"/>
              </a:rPr>
              <a:t>Pengguna meninjau sebelum menerapkan.</a:t>
            </a:r>
          </a:p>
        </p:txBody>
      </p:sp>
      <p:sp>
        <p:nvSpPr>
          <p:cNvPr id="7" name="text-83">
            <a:extLst xmlns:a="http://schemas.openxmlformats.org/drawingml/2006/main">
              <a:ext uri="{FF2B5EF4-FFF2-40B4-BE49-F238E27FC236}">
                <a16:creationId xmlns:a16="http://schemas.microsoft.com/office/drawing/2014/main" id="{D2CA2544-29C5-4604-9878-5256D014E67E}"/>
              </a:ext>
            </a:extLst>
          </p:cNvPr>
          <p:cNvSpPr>
            <a:spLocks xmlns:a="http://schemas.openxmlformats.org/drawingml/2006/main" noGrp="1"/>
          </p:cNvSpPr>
          <p:nvPr/>
        </p:nvSpPr>
        <p:spPr>
          <a:xfrm xmlns:a="http://schemas.openxmlformats.org/drawingml/2006/main">
            <a:off x="685800" y="584835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4F46E5"/>
                </a:solidFill>
                <a:latin typeface="Arial"/>
                <a:ea typeface="Arial"/>
                <a:cs typeface="Arial"/>
              </a:defRPr>
            </a:pPr>
            <a:r>
              <a:rPr sz="1800" b="1">
                <a:solidFill>
                  <a:srgbClr val="4F46E5"/>
                </a:solidFill>
                <a:latin typeface="Arial"/>
                <a:ea typeface="Arial"/>
                <a:cs typeface="Arial"/>
              </a:rPr>
              <a:t>Opsional, tidak mengubah nilai atau progres materi</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54230071e444a55"/>
          <a:stretch xmlns:a="http://schemas.openxmlformats.org/drawingml/2006/main"/>
        </p:blipFill>
        <p:spPr>
          <a:xfrm xmlns:a="http://schemas.openxmlformats.org/drawingml/2006/main">
            <a:off x="6115050" y="2159276"/>
            <a:ext cx="5391150" cy="2929973"/>
          </a:xfrm>
          <a:prstGeom xmlns:a="http://schemas.openxmlformats.org/drawingml/2006/main" prst="rect">
            <a:avLst/>
          </a:prstGeom>
        </p:spPr>
      </p:pic>
    </p:spTree>
    <p:extLst>
      <p:ext uri="{BB962C8B-B14F-4D97-AF65-F5344CB8AC3E}">
        <p14:creationId xmlns:p14="http://schemas.microsoft.com/office/powerpoint/2010/main" val="12111340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84">
            <a:extLst xmlns:a="http://schemas.openxmlformats.org/drawingml/2006/main">
              <a:ext uri="{FF2B5EF4-FFF2-40B4-BE49-F238E27FC236}">
                <a16:creationId xmlns:a16="http://schemas.microsoft.com/office/drawing/2014/main" id="{A244F127-9D26-4D3F-B02B-158D9E3A917B}"/>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5223D"/>
                </a:solidFill>
                <a:latin typeface="Arial"/>
                <a:ea typeface="Arial"/>
                <a:cs typeface="Arial"/>
              </a:defRPr>
            </a:pPr>
            <a:r>
              <a:rPr sz="3450" b="1">
                <a:solidFill>
                  <a:srgbClr val="25223D"/>
                </a:solidFill>
                <a:latin typeface="Arial"/>
                <a:ea typeface="Arial"/>
                <a:cs typeface="Arial"/>
              </a:rPr>
              <a:t>Tutor AI memberi bantuan kontekstual</a:t>
            </a:r>
          </a:p>
        </p:txBody>
      </p:sp>
      <p:sp>
        <p:nvSpPr>
          <p:cNvPr id="2" name="text-85">
            <a:extLst xmlns:a="http://schemas.openxmlformats.org/drawingml/2006/main">
              <a:ext uri="{FF2B5EF4-FFF2-40B4-BE49-F238E27FC236}">
                <a16:creationId xmlns:a16="http://schemas.microsoft.com/office/drawing/2014/main" id="{22C76FEB-ABE3-40FA-8748-2629C26F0FBC}"/>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5E78"/>
                </a:solidFill>
                <a:latin typeface="Arial"/>
                <a:ea typeface="Arial"/>
                <a:cs typeface="Arial"/>
              </a:defRPr>
            </a:pPr>
            <a:r>
              <a:rPr sz="1275" b="0">
                <a:solidFill>
                  <a:srgbClr val="625E78"/>
                </a:solidFill>
                <a:latin typeface="Arial"/>
                <a:ea typeface="Arial"/>
                <a:cs typeface="Arial"/>
              </a:rPr>
              <a:t>09</a:t>
            </a:r>
          </a:p>
        </p:txBody>
      </p:sp>
      <p:sp>
        <p:nvSpPr>
          <p:cNvPr id="3" name="text-86">
            <a:extLst xmlns:a="http://schemas.openxmlformats.org/drawingml/2006/main">
              <a:ext uri="{FF2B5EF4-FFF2-40B4-BE49-F238E27FC236}">
                <a16:creationId xmlns:a16="http://schemas.microsoft.com/office/drawing/2014/main" id="{4033481A-0415-4DFA-A9E5-8A6900F3A7A8}"/>
              </a:ext>
            </a:extLst>
          </p:cNvPr>
          <p:cNvSpPr>
            <a:spLocks xmlns:a="http://schemas.openxmlformats.org/drawingml/2006/main" noGrp="1"/>
          </p:cNvSpPr>
          <p:nvPr/>
        </p:nvSpPr>
        <p:spPr>
          <a:xfrm xmlns:a="http://schemas.openxmlformats.org/drawingml/2006/main">
            <a:off x="685800" y="17430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4F46E5"/>
                </a:solidFill>
                <a:latin typeface="Arial"/>
                <a:ea typeface="Arial"/>
                <a:cs typeface="Arial"/>
              </a:defRPr>
            </a:pPr>
            <a:r>
              <a:rPr sz="2325" b="1">
                <a:solidFill>
                  <a:srgbClr val="4F46E5"/>
                </a:solidFill>
                <a:latin typeface="Arial"/>
                <a:ea typeface="Arial"/>
                <a:cs typeface="Arial"/>
              </a:rPr>
              <a:t>Petunjuk berdasarkan materi, query, dan kesalahan yang terlihat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f237d4c6fbd4707"/>
          <a:stretch xmlns:a="http://schemas.openxmlformats.org/drawingml/2006/main"/>
        </p:blipFill>
        <p:spPr>
          <a:xfrm xmlns:a="http://schemas.openxmlformats.org/drawingml/2006/main">
            <a:off x="685800" y="2611467"/>
            <a:ext cx="10820400" cy="2978092"/>
          </a:xfrm>
          <a:prstGeom xmlns:a="http://schemas.openxmlformats.org/drawingml/2006/main" prst="rect">
            <a:avLst/>
          </a:prstGeom>
        </p:spPr>
      </p:pic>
      <p:sp>
        <p:nvSpPr>
          <p:cNvPr id="5" name="text-87">
            <a:extLst xmlns:a="http://schemas.openxmlformats.org/drawingml/2006/main">
              <a:ext uri="{FF2B5EF4-FFF2-40B4-BE49-F238E27FC236}">
                <a16:creationId xmlns:a16="http://schemas.microsoft.com/office/drawing/2014/main" id="{F6A44862-8D85-4618-9F39-9A65B0F13D1B}"/>
              </a:ext>
            </a:extLst>
          </p:cNvPr>
          <p:cNvSpPr>
            <a:spLocks xmlns:a="http://schemas.openxmlformats.org/drawingml/2006/main" noGrp="1"/>
          </p:cNvSpPr>
          <p:nvPr/>
        </p:nvSpPr>
        <p:spPr>
          <a:xfrm xmlns:a="http://schemas.openxmlformats.org/drawingml/2006/main">
            <a:off x="685800" y="58102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5223D"/>
                </a:solidFill>
                <a:latin typeface="Arial"/>
                <a:ea typeface="Arial"/>
                <a:cs typeface="Arial"/>
              </a:defRPr>
            </a:pPr>
            <a:r>
              <a:rPr sz="2175" b="1">
                <a:solidFill>
                  <a:srgbClr val="25223D"/>
                </a:solidFill>
                <a:latin typeface="Arial"/>
                <a:ea typeface="Arial"/>
                <a:cs typeface="Arial"/>
              </a:rPr>
              <a:t>AI tersedia saat belajar dan nonaktif selama tes aktif</a:t>
            </a:r>
          </a:p>
        </p:txBody>
      </p:sp>
    </p:spTree>
    <p:extLst>
      <p:ext uri="{BB962C8B-B14F-4D97-AF65-F5344CB8AC3E}">
        <p14:creationId xmlns:p14="http://schemas.microsoft.com/office/powerpoint/2010/main" val="1406720374"/>
      </p:ext>
    </p:extLst>
  </p:cSld>
</p:sld>
</file>

<file path=ppt/slides/slide10.xml><?xml version="1.0" encoding="utf-8"?>
<p:sld xmlns:p="http://schemas.openxmlformats.org/presentationml/2006/main">
  <p:cSld>
    <p:bg>
      <p:bgPr>
        <a:solidFill xmlns:a="http://schemas.openxmlformats.org/drawingml/2006/main">
          <a:srgbClr val="F8F7FC"/>
        </a:solidFill>
      </p:bgPr>
    </p:bg>
    <p:spTree>
      <p:nvGrpSpPr>
        <p:cNvPr id="1" name=""/>
        <p:cNvGrpSpPr/>
        <p:nvPr/>
      </p:nvGrpSpPr>
      <p:grpSpPr>
        <a:xfrm xmlns:a="http://schemas.openxmlformats.org/drawingml/2006/main"/>
      </p:grpSpPr>
      <p:sp>
        <p:nvSpPr>
          <p:cNvPr id="11" name="text-88">
            <a:extLst xmlns:a="http://schemas.openxmlformats.org/drawingml/2006/main">
              <a:ext uri="{FF2B5EF4-FFF2-40B4-BE49-F238E27FC236}">
                <a16:creationId xmlns:a16="http://schemas.microsoft.com/office/drawing/2014/main" id="{6DF48960-F909-4893-8ACB-392BE0165D17}"/>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5223D"/>
                </a:solidFill>
                <a:latin typeface="Arial"/>
                <a:ea typeface="Arial"/>
                <a:cs typeface="Arial"/>
              </a:defRPr>
            </a:pPr>
            <a:r>
              <a:rPr sz="3450" b="1">
                <a:solidFill>
                  <a:srgbClr val="25223D"/>
                </a:solidFill>
                <a:latin typeface="Arial"/>
                <a:ea typeface="Arial"/>
                <a:cs typeface="Arial"/>
              </a:rPr>
              <a:t>Pre-test dan post-test</a:t>
            </a:r>
          </a:p>
        </p:txBody>
      </p:sp>
      <p:sp>
        <p:nvSpPr>
          <p:cNvPr id="2" name="text-89">
            <a:extLst xmlns:a="http://schemas.openxmlformats.org/drawingml/2006/main">
              <a:ext uri="{FF2B5EF4-FFF2-40B4-BE49-F238E27FC236}">
                <a16:creationId xmlns:a16="http://schemas.microsoft.com/office/drawing/2014/main" id="{3EC76F8F-0BAF-4511-9206-63072DF35773}"/>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5E78"/>
                </a:solidFill>
                <a:latin typeface="Arial"/>
                <a:ea typeface="Arial"/>
                <a:cs typeface="Arial"/>
              </a:defRPr>
            </a:pPr>
            <a:r>
              <a:rPr sz="1275" b="0">
                <a:solidFill>
                  <a:srgbClr val="625E78"/>
                </a:solidFill>
                <a:latin typeface="Arial"/>
                <a:ea typeface="Arial"/>
                <a:cs typeface="Arial"/>
              </a:rPr>
              <a:t>10</a:t>
            </a:r>
          </a:p>
        </p:txBody>
      </p:sp>
      <p:sp>
        <p:nvSpPr>
          <p:cNvPr id="3" name="text-90">
            <a:extLst xmlns:a="http://schemas.openxmlformats.org/drawingml/2006/main">
              <a:ext uri="{FF2B5EF4-FFF2-40B4-BE49-F238E27FC236}">
                <a16:creationId xmlns:a16="http://schemas.microsoft.com/office/drawing/2014/main" id="{811DE488-504D-4DD3-85D8-4872D7A0AAE4}"/>
              </a:ext>
            </a:extLst>
          </p:cNvPr>
          <p:cNvSpPr>
            <a:spLocks xmlns:a="http://schemas.openxmlformats.org/drawingml/2006/main" noGrp="1"/>
          </p:cNvSpPr>
          <p:nvPr/>
        </p:nvSpPr>
        <p:spPr>
          <a:xfrm xmlns:a="http://schemas.openxmlformats.org/drawingml/2006/main">
            <a:off x="685800" y="190500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5223D"/>
                </a:solidFill>
                <a:latin typeface="Arial"/>
                <a:ea typeface="Arial"/>
                <a:cs typeface="Arial"/>
              </a:defRPr>
            </a:pPr>
            <a:r>
              <a:rPr sz="2175" b="1">
                <a:solidFill>
                  <a:srgbClr val="25223D"/>
                </a:solidFill>
                <a:latin typeface="Arial"/>
                <a:ea typeface="Arial"/>
                <a:cs typeface="Arial"/>
              </a:rPr>
              <a:t>Pre-test</a:t>
            </a:r>
          </a:p>
        </p:txBody>
      </p:sp>
      <p:sp>
        <p:nvSpPr>
          <p:cNvPr id="4" name="text-91">
            <a:extLst xmlns:a="http://schemas.openxmlformats.org/drawingml/2006/main">
              <a:ext uri="{FF2B5EF4-FFF2-40B4-BE49-F238E27FC236}">
                <a16:creationId xmlns:a16="http://schemas.microsoft.com/office/drawing/2014/main" id="{0AD2205C-AA0B-4405-B40B-180072C03DA3}"/>
              </a:ext>
            </a:extLst>
          </p:cNvPr>
          <p:cNvSpPr>
            <a:spLocks xmlns:a="http://schemas.openxmlformats.org/drawingml/2006/main" noGrp="1"/>
          </p:cNvSpPr>
          <p:nvPr/>
        </p:nvSpPr>
        <p:spPr>
          <a:xfrm xmlns:a="http://schemas.openxmlformats.org/drawingml/2006/main">
            <a:off x="685800" y="2324100"/>
            <a:ext cx="590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Mencatat pemahaman awal tanpa bobot pada nilai akhir.</a:t>
            </a:r>
          </a:p>
        </p:txBody>
      </p:sp>
      <p:sp>
        <p:nvSpPr>
          <p:cNvPr id="5" name="text-92">
            <a:extLst xmlns:a="http://schemas.openxmlformats.org/drawingml/2006/main">
              <a:ext uri="{FF2B5EF4-FFF2-40B4-BE49-F238E27FC236}">
                <a16:creationId xmlns:a16="http://schemas.microsoft.com/office/drawing/2014/main" id="{46A23DEB-97F7-4DEF-8E18-136C89A4E900}"/>
              </a:ext>
            </a:extLst>
          </p:cNvPr>
          <p:cNvSpPr>
            <a:spLocks xmlns:a="http://schemas.openxmlformats.org/drawingml/2006/main" noGrp="1"/>
          </p:cNvSpPr>
          <p:nvPr/>
        </p:nvSpPr>
        <p:spPr>
          <a:xfrm xmlns:a="http://schemas.openxmlformats.org/drawingml/2006/main">
            <a:off x="685800" y="33718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5223D"/>
                </a:solidFill>
                <a:latin typeface="Arial"/>
                <a:ea typeface="Arial"/>
                <a:cs typeface="Arial"/>
              </a:defRPr>
            </a:pPr>
            <a:r>
              <a:rPr sz="2175" b="1">
                <a:solidFill>
                  <a:srgbClr val="25223D"/>
                </a:solidFill>
                <a:latin typeface="Arial"/>
                <a:ea typeface="Arial"/>
                <a:cs typeface="Arial"/>
              </a:rPr>
              <a:t>Post-test</a:t>
            </a:r>
          </a:p>
        </p:txBody>
      </p:sp>
      <p:sp>
        <p:nvSpPr>
          <p:cNvPr id="6" name="text-93">
            <a:extLst xmlns:a="http://schemas.openxmlformats.org/drawingml/2006/main">
              <a:ext uri="{FF2B5EF4-FFF2-40B4-BE49-F238E27FC236}">
                <a16:creationId xmlns:a16="http://schemas.microsoft.com/office/drawing/2014/main" id="{3F5690B1-EADE-4D70-9204-693C45246EC4}"/>
              </a:ext>
            </a:extLst>
          </p:cNvPr>
          <p:cNvSpPr>
            <a:spLocks xmlns:a="http://schemas.openxmlformats.org/drawingml/2006/main" noGrp="1"/>
          </p:cNvSpPr>
          <p:nvPr/>
        </p:nvSpPr>
        <p:spPr>
          <a:xfrm xmlns:a="http://schemas.openxmlformats.org/drawingml/2006/main">
            <a:off x="685800" y="3790950"/>
            <a:ext cx="590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25E78"/>
                </a:solidFill>
                <a:latin typeface="Arial"/>
                <a:ea typeface="Arial"/>
                <a:cs typeface="Arial"/>
              </a:defRPr>
            </a:pPr>
            <a:r>
              <a:rPr sz="1875" b="0">
                <a:solidFill>
                  <a:srgbClr val="625E78"/>
                </a:solidFill>
                <a:latin typeface="Arial"/>
                <a:ea typeface="Arial"/>
                <a:cs typeface="Arial"/>
              </a:rPr>
              <a:t>Menilai konsep dan kemampuan menulis SQL melalui kasus.</a:t>
            </a:r>
          </a:p>
        </p:txBody>
      </p:sp>
      <p:sp>
        <p:nvSpPr>
          <p:cNvPr id="7" name="text-94">
            <a:extLst xmlns:a="http://schemas.openxmlformats.org/drawingml/2006/main">
              <a:ext uri="{FF2B5EF4-FFF2-40B4-BE49-F238E27FC236}">
                <a16:creationId xmlns:a16="http://schemas.microsoft.com/office/drawing/2014/main" id="{71801362-3266-46AA-AD61-432BCF82D935}"/>
              </a:ext>
            </a:extLst>
          </p:cNvPr>
          <p:cNvSpPr>
            <a:spLocks xmlns:a="http://schemas.openxmlformats.org/drawingml/2006/main" noGrp="1"/>
          </p:cNvSpPr>
          <p:nvPr/>
        </p:nvSpPr>
        <p:spPr>
          <a:xfrm xmlns:a="http://schemas.openxmlformats.org/drawingml/2006/main">
            <a:off x="685800" y="4991100"/>
            <a:ext cx="666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625E78"/>
                </a:solidFill>
                <a:latin typeface="Arial"/>
                <a:ea typeface="Arial"/>
                <a:cs typeface="Arial"/>
              </a:defRPr>
            </a:pPr>
            <a:r>
              <a:rPr sz="2025" b="0">
                <a:solidFill>
                  <a:srgbClr val="625E78"/>
                </a:solidFill>
                <a:latin typeface="Arial"/>
                <a:ea typeface="Arial"/>
                <a:cs typeface="Arial"/>
              </a:rPr>
              <a:t>Hasil SQL dan skor diperiksa oleh server.</a:t>
            </a:r>
          </a:p>
          <a:p xmlns:a="http://schemas.openxmlformats.org/drawingml/2006/main">
            <a:pPr>
              <a:defRPr sz="2025" b="0">
                <a:solidFill>
                  <a:srgbClr val="625E78"/>
                </a:solidFill>
                <a:latin typeface="Arial"/>
                <a:ea typeface="Arial"/>
                <a:cs typeface="Arial"/>
              </a:defRPr>
            </a:pPr>
            <a:r>
              <a:rPr sz="2025" b="0">
                <a:solidFill>
                  <a:srgbClr val="625E78"/>
                </a:solidFill>
                <a:latin typeface="Arial"/>
                <a:ea typeface="Arial"/>
                <a:cs typeface="Arial"/>
              </a:rPr>
              <a:t>AI tidak tersedia selama tes aktif.</a:t>
            </a:r>
          </a:p>
        </p:txBody>
      </p:sp>
      <p:sp>
        <p:nvSpPr>
          <p:cNvPr id="8" name="text-95">
            <a:extLst xmlns:a="http://schemas.openxmlformats.org/drawingml/2006/main">
              <a:ext uri="{FF2B5EF4-FFF2-40B4-BE49-F238E27FC236}">
                <a16:creationId xmlns:a16="http://schemas.microsoft.com/office/drawing/2014/main" id="{5D3C7185-626C-4C42-BDBE-BEE7294D88D5}"/>
              </a:ext>
            </a:extLst>
          </p:cNvPr>
          <p:cNvSpPr>
            <a:spLocks xmlns:a="http://schemas.openxmlformats.org/drawingml/2006/main" noGrp="1"/>
          </p:cNvSpPr>
          <p:nvPr/>
        </p:nvSpPr>
        <p:spPr>
          <a:xfrm xmlns:a="http://schemas.openxmlformats.org/drawingml/2006/main">
            <a:off x="8429625" y="2152650"/>
            <a:ext cx="285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900" b="1">
                <a:solidFill>
                  <a:srgbClr val="4F46E5"/>
                </a:solidFill>
                <a:latin typeface="Arial"/>
                <a:ea typeface="Arial"/>
                <a:cs typeface="Arial"/>
              </a:defRPr>
            </a:pPr>
            <a:r>
              <a:rPr sz="9900" b="1">
                <a:solidFill>
                  <a:srgbClr val="4F46E5"/>
                </a:solidFill>
                <a:latin typeface="Arial"/>
                <a:ea typeface="Arial"/>
                <a:cs typeface="Arial"/>
              </a:rPr>
              <a:t>75</a:t>
            </a:r>
          </a:p>
        </p:txBody>
      </p:sp>
      <p:sp>
        <p:nvSpPr>
          <p:cNvPr id="9" name="text-96">
            <a:extLst xmlns:a="http://schemas.openxmlformats.org/drawingml/2006/main">
              <a:ext uri="{FF2B5EF4-FFF2-40B4-BE49-F238E27FC236}">
                <a16:creationId xmlns:a16="http://schemas.microsoft.com/office/drawing/2014/main" id="{EC11D940-DE08-4448-A8DC-BC7BD551BA05}"/>
              </a:ext>
            </a:extLst>
          </p:cNvPr>
          <p:cNvSpPr>
            <a:spLocks xmlns:a="http://schemas.openxmlformats.org/drawingml/2006/main" noGrp="1"/>
          </p:cNvSpPr>
          <p:nvPr/>
        </p:nvSpPr>
        <p:spPr>
          <a:xfrm xmlns:a="http://schemas.openxmlformats.org/drawingml/2006/main">
            <a:off x="8524875" y="394335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25223D"/>
                </a:solidFill>
                <a:latin typeface="Arial"/>
                <a:ea typeface="Arial"/>
                <a:cs typeface="Arial"/>
              </a:defRPr>
            </a:pPr>
            <a:r>
              <a:rPr sz="2475" b="1">
                <a:solidFill>
                  <a:srgbClr val="25223D"/>
                </a:solidFill>
                <a:latin typeface="Arial"/>
                <a:ea typeface="Arial"/>
                <a:cs typeface="Arial"/>
              </a:rPr>
              <a:t>dari 100</a:t>
            </a:r>
          </a:p>
        </p:txBody>
      </p:sp>
      <p:sp>
        <p:nvSpPr>
          <p:cNvPr id="10" name="text-97">
            <a:extLst xmlns:a="http://schemas.openxmlformats.org/drawingml/2006/main">
              <a:ext uri="{FF2B5EF4-FFF2-40B4-BE49-F238E27FC236}">
                <a16:creationId xmlns:a16="http://schemas.microsoft.com/office/drawing/2014/main" id="{CC47F5AC-6014-4885-9A8A-70CC6F3AB312}"/>
              </a:ext>
            </a:extLst>
          </p:cNvPr>
          <p:cNvSpPr>
            <a:spLocks xmlns:a="http://schemas.openxmlformats.org/drawingml/2006/main" noGrp="1"/>
          </p:cNvSpPr>
          <p:nvPr/>
        </p:nvSpPr>
        <p:spPr>
          <a:xfrm xmlns:a="http://schemas.openxmlformats.org/drawingml/2006/main">
            <a:off x="8524875" y="4676775"/>
            <a:ext cx="276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625E78"/>
                </a:solidFill>
                <a:latin typeface="Arial"/>
                <a:ea typeface="Arial"/>
                <a:cs typeface="Arial"/>
              </a:defRPr>
            </a:pPr>
            <a:r>
              <a:rPr sz="1950" b="0">
                <a:solidFill>
                  <a:srgbClr val="625E78"/>
                </a:solidFill>
                <a:latin typeface="Arial"/>
                <a:ea typeface="Arial"/>
                <a:cs typeface="Arial"/>
              </a:rPr>
              <a:t>Nilai minimal</a:t>
            </a:r>
          </a:p>
          <a:p xmlns:a="http://schemas.openxmlformats.org/drawingml/2006/main">
            <a:pPr>
              <a:defRPr sz="1950" b="0">
                <a:solidFill>
                  <a:srgbClr val="625E78"/>
                </a:solidFill>
                <a:latin typeface="Arial"/>
                <a:ea typeface="Arial"/>
                <a:cs typeface="Arial"/>
              </a:defRPr>
            </a:pPr>
            <a:r>
              <a:rPr sz="1950" b="0">
                <a:solidFill>
                  <a:srgbClr val="625E78"/>
                </a:solidFill>
                <a:latin typeface="Arial"/>
                <a:ea typeface="Arial"/>
                <a:cs typeface="Arial"/>
              </a:rPr>
              <a:t>kelulusan post-test</a:t>
            </a:r>
          </a:p>
        </p:txBody>
      </p:sp>
    </p:spTree>
    <p:extLst>
      <p:ext uri="{BB962C8B-B14F-4D97-AF65-F5344CB8AC3E}">
        <p14:creationId xmlns:p14="http://schemas.microsoft.com/office/powerpoint/2010/main" val="20443207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98">
            <a:extLst xmlns:a="http://schemas.openxmlformats.org/drawingml/2006/main">
              <a:ext uri="{FF2B5EF4-FFF2-40B4-BE49-F238E27FC236}">
                <a16:creationId xmlns:a16="http://schemas.microsoft.com/office/drawing/2014/main" id="{25300CF6-4C69-49A4-95E0-C4302EEAEFDC}"/>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5223D"/>
                </a:solidFill>
                <a:latin typeface="Arial"/>
                <a:ea typeface="Arial"/>
                <a:cs typeface="Arial"/>
              </a:defRPr>
            </a:pPr>
            <a:r>
              <a:rPr sz="3450" b="1">
                <a:solidFill>
                  <a:srgbClr val="25223D"/>
                </a:solidFill>
                <a:latin typeface="Arial"/>
                <a:ea typeface="Arial"/>
                <a:cs typeface="Arial"/>
              </a:rPr>
              <a:t>Pengalaman belajar dari ponsel</a:t>
            </a:r>
          </a:p>
        </p:txBody>
      </p:sp>
      <p:sp>
        <p:nvSpPr>
          <p:cNvPr id="2" name="text-99">
            <a:extLst xmlns:a="http://schemas.openxmlformats.org/drawingml/2006/main">
              <a:ext uri="{FF2B5EF4-FFF2-40B4-BE49-F238E27FC236}">
                <a16:creationId xmlns:a16="http://schemas.microsoft.com/office/drawing/2014/main" id="{E7AD8ABD-4889-48CF-A0A4-5985CE9E88E8}"/>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5E78"/>
                </a:solidFill>
                <a:latin typeface="Arial"/>
                <a:ea typeface="Arial"/>
                <a:cs typeface="Arial"/>
              </a:defRPr>
            </a:pPr>
            <a:r>
              <a:rPr sz="1275" b="0">
                <a:solidFill>
                  <a:srgbClr val="625E78"/>
                </a:solidFill>
                <a:latin typeface="Arial"/>
                <a:ea typeface="Arial"/>
                <a:cs typeface="Arial"/>
              </a:rPr>
              <a:t>11</a:t>
            </a:r>
          </a:p>
        </p:txBody>
      </p:sp>
      <p:sp>
        <p:nvSpPr>
          <p:cNvPr id="3" name="text-100">
            <a:extLst xmlns:a="http://schemas.openxmlformats.org/drawingml/2006/main">
              <a:ext uri="{FF2B5EF4-FFF2-40B4-BE49-F238E27FC236}">
                <a16:creationId xmlns:a16="http://schemas.microsoft.com/office/drawing/2014/main" id="{D7EEC848-DE03-46EC-8B86-4999056017A6}"/>
              </a:ext>
            </a:extLst>
          </p:cNvPr>
          <p:cNvSpPr>
            <a:spLocks xmlns:a="http://schemas.openxmlformats.org/drawingml/2006/main" noGrp="1"/>
          </p:cNvSpPr>
          <p:nvPr/>
        </p:nvSpPr>
        <p:spPr>
          <a:xfrm xmlns:a="http://schemas.openxmlformats.org/drawingml/2006/main">
            <a:off x="685800" y="1876425"/>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5223D"/>
                </a:solidFill>
                <a:latin typeface="Arial"/>
                <a:ea typeface="Arial"/>
                <a:cs typeface="Arial"/>
              </a:defRPr>
            </a:pPr>
            <a:r>
              <a:rPr sz="2700" b="1">
                <a:solidFill>
                  <a:srgbClr val="25223D"/>
                </a:solidFill>
                <a:latin typeface="Arial"/>
                <a:ea typeface="Arial"/>
                <a:cs typeface="Arial"/>
              </a:rPr>
              <a:t>Navigasi di bagian bawah</a:t>
            </a:r>
          </a:p>
        </p:txBody>
      </p:sp>
      <p:sp>
        <p:nvSpPr>
          <p:cNvPr id="4" name="text-101">
            <a:extLst xmlns:a="http://schemas.openxmlformats.org/drawingml/2006/main">
              <a:ext uri="{FF2B5EF4-FFF2-40B4-BE49-F238E27FC236}">
                <a16:creationId xmlns:a16="http://schemas.microsoft.com/office/drawing/2014/main" id="{EAC561A5-C94D-4811-9DD9-5FA3677BD7E1}"/>
              </a:ext>
            </a:extLst>
          </p:cNvPr>
          <p:cNvSpPr>
            <a:spLocks xmlns:a="http://schemas.openxmlformats.org/drawingml/2006/main" noGrp="1"/>
          </p:cNvSpPr>
          <p:nvPr/>
        </p:nvSpPr>
        <p:spPr>
          <a:xfrm xmlns:a="http://schemas.openxmlformats.org/drawingml/2006/main">
            <a:off x="685800" y="2838450"/>
            <a:ext cx="4714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625E78"/>
                </a:solidFill>
                <a:latin typeface="Arial"/>
                <a:ea typeface="Arial"/>
                <a:cs typeface="Arial"/>
              </a:defRPr>
            </a:pPr>
            <a:r>
              <a:rPr sz="2100" b="0">
                <a:solidFill>
                  <a:srgbClr val="625E78"/>
                </a:solidFill>
                <a:latin typeface="Arial"/>
                <a:ea typeface="Arial"/>
                <a:cs typeface="Arial"/>
              </a:rPr>
              <a:t>Materi, tes, dan profil mudah dijangkau. Menu membuka fitur lainnya.</a:t>
            </a:r>
          </a:p>
        </p:txBody>
      </p:sp>
      <p:sp>
        <p:nvSpPr>
          <p:cNvPr id="5" name="text-102">
            <a:extLst xmlns:a="http://schemas.openxmlformats.org/drawingml/2006/main">
              <a:ext uri="{FF2B5EF4-FFF2-40B4-BE49-F238E27FC236}">
                <a16:creationId xmlns:a16="http://schemas.microsoft.com/office/drawing/2014/main" id="{146583D1-C0FE-4185-80DB-3AB9E2A4BC56}"/>
              </a:ext>
            </a:extLst>
          </p:cNvPr>
          <p:cNvSpPr>
            <a:spLocks xmlns:a="http://schemas.openxmlformats.org/drawingml/2006/main" noGrp="1"/>
          </p:cNvSpPr>
          <p:nvPr/>
        </p:nvSpPr>
        <p:spPr>
          <a:xfrm xmlns:a="http://schemas.openxmlformats.org/drawingml/2006/main">
            <a:off x="685800" y="45339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4F46E5"/>
                </a:solidFill>
                <a:latin typeface="Arial"/>
                <a:ea typeface="Arial"/>
                <a:cs typeface="Arial"/>
              </a:defRPr>
            </a:pPr>
            <a:r>
              <a:rPr sz="2400" b="1">
                <a:solidFill>
                  <a:srgbClr val="4F46E5"/>
                </a:solidFill>
                <a:latin typeface="Arial"/>
                <a:ea typeface="Arial"/>
                <a:cs typeface="Arial"/>
              </a:rPr>
              <a:t>Tamu cukup mengisi nama</a:t>
            </a:r>
          </a:p>
        </p:txBody>
      </p:sp>
      <p:sp>
        <p:nvSpPr>
          <p:cNvPr id="6" name="text-103">
            <a:extLst xmlns:a="http://schemas.openxmlformats.org/drawingml/2006/main">
              <a:ext uri="{FF2B5EF4-FFF2-40B4-BE49-F238E27FC236}">
                <a16:creationId xmlns:a16="http://schemas.microsoft.com/office/drawing/2014/main" id="{6DA450D1-3504-4D51-BB47-FD82522CEB56}"/>
              </a:ext>
            </a:extLst>
          </p:cNvPr>
          <p:cNvSpPr>
            <a:spLocks xmlns:a="http://schemas.openxmlformats.org/drawingml/2006/main" noGrp="1"/>
          </p:cNvSpPr>
          <p:nvPr/>
        </p:nvSpPr>
        <p:spPr>
          <a:xfrm xmlns:a="http://schemas.openxmlformats.org/drawingml/2006/main">
            <a:off x="685800" y="5219700"/>
            <a:ext cx="4714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625E78"/>
                </a:solidFill>
                <a:latin typeface="Arial"/>
                <a:ea typeface="Arial"/>
                <a:cs typeface="Arial"/>
              </a:defRPr>
            </a:pPr>
            <a:r>
              <a:rPr sz="2025" b="0">
                <a:solidFill>
                  <a:srgbClr val="625E78"/>
                </a:solidFill>
                <a:latin typeface="Arial"/>
                <a:ea typeface="Arial"/>
                <a:cs typeface="Arial"/>
              </a:rPr>
              <a:t>Gunakan akun untuk menyimpan progres dan hasil belajar.</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74ad4a378ef4226"/>
          <a:stretch xmlns:a="http://schemas.openxmlformats.org/drawingml/2006/main"/>
        </p:blipFill>
        <p:spPr>
          <a:xfrm xmlns:a="http://schemas.openxmlformats.org/drawingml/2006/main">
            <a:off x="6362858" y="1524000"/>
            <a:ext cx="2209484" cy="478155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62004c1a3fb41e0"/>
          <a:stretch xmlns:a="http://schemas.openxmlformats.org/drawingml/2006/main"/>
        </p:blipFill>
        <p:spPr>
          <a:xfrm xmlns:a="http://schemas.openxmlformats.org/drawingml/2006/main">
            <a:off x="9029858" y="1524000"/>
            <a:ext cx="2209484" cy="4781550"/>
          </a:xfrm>
          <a:prstGeom xmlns:a="http://schemas.openxmlformats.org/drawingml/2006/main" prst="rect">
            <a:avLst/>
          </a:prstGeom>
        </p:spPr>
      </p:pic>
    </p:spTree>
    <p:extLst>
      <p:ext uri="{BB962C8B-B14F-4D97-AF65-F5344CB8AC3E}">
        <p14:creationId xmlns:p14="http://schemas.microsoft.com/office/powerpoint/2010/main" val="1172871903"/>
      </p:ext>
    </p:extLst>
  </p:cSld>
</p:sld>
</file>

<file path=ppt/slides/slide12.xml><?xml version="1.0" encoding="utf-8"?>
<p:sld xmlns:p="http://schemas.openxmlformats.org/presentationml/2006/main">
  <p:cSld>
    <p:bg>
      <p:bgPr>
        <a:solidFill xmlns:a="http://schemas.openxmlformats.org/drawingml/2006/main">
          <a:srgbClr val="F8F7FC"/>
        </a:solidFill>
      </p:bgPr>
    </p:bg>
    <p:spTree>
      <p:nvGrpSpPr>
        <p:cNvPr id="1" name=""/>
        <p:cNvGrpSpPr/>
        <p:nvPr/>
      </p:nvGrpSpPr>
      <p:grpSpPr>
        <a:xfrm xmlns:a="http://schemas.openxmlformats.org/drawingml/2006/main"/>
      </p:grpSpPr>
      <p:sp>
        <p:nvSpPr>
          <p:cNvPr id="13" name="text-104">
            <a:extLst xmlns:a="http://schemas.openxmlformats.org/drawingml/2006/main">
              <a:ext uri="{FF2B5EF4-FFF2-40B4-BE49-F238E27FC236}">
                <a16:creationId xmlns:a16="http://schemas.microsoft.com/office/drawing/2014/main" id="{F82C8E9F-2BFB-4F23-826A-755D112FBA43}"/>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5223D"/>
                </a:solidFill>
                <a:latin typeface="Arial"/>
                <a:ea typeface="Arial"/>
                <a:cs typeface="Arial"/>
              </a:defRPr>
            </a:pPr>
            <a:r>
              <a:rPr sz="3450" b="1">
                <a:solidFill>
                  <a:srgbClr val="25223D"/>
                </a:solidFill>
                <a:latin typeface="Arial"/>
                <a:ea typeface="Arial"/>
                <a:cs typeface="Arial"/>
              </a:rPr>
              <a:t>Pengelolaan konten melalui Admin CMS</a:t>
            </a:r>
          </a:p>
        </p:txBody>
      </p:sp>
      <p:sp>
        <p:nvSpPr>
          <p:cNvPr id="2" name="text-105">
            <a:extLst xmlns:a="http://schemas.openxmlformats.org/drawingml/2006/main">
              <a:ext uri="{FF2B5EF4-FFF2-40B4-BE49-F238E27FC236}">
                <a16:creationId xmlns:a16="http://schemas.microsoft.com/office/drawing/2014/main" id="{2F5935B2-1EDE-4096-9900-225B3F9F9F58}"/>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5E78"/>
                </a:solidFill>
                <a:latin typeface="Arial"/>
                <a:ea typeface="Arial"/>
                <a:cs typeface="Arial"/>
              </a:defRPr>
            </a:pPr>
            <a:r>
              <a:rPr sz="1275" b="0">
                <a:solidFill>
                  <a:srgbClr val="625E78"/>
                </a:solidFill>
                <a:latin typeface="Arial"/>
                <a:ea typeface="Arial"/>
                <a:cs typeface="Arial"/>
              </a:rPr>
              <a:t>12</a:t>
            </a:r>
          </a:p>
        </p:txBody>
      </p:sp>
      <p:sp>
        <p:nvSpPr>
          <p:cNvPr id="3" name="text-106">
            <a:extLst xmlns:a="http://schemas.openxmlformats.org/drawingml/2006/main">
              <a:ext uri="{FF2B5EF4-FFF2-40B4-BE49-F238E27FC236}">
                <a16:creationId xmlns:a16="http://schemas.microsoft.com/office/drawing/2014/main" id="{22FA5BFB-70BB-4773-9237-577AA804919D}"/>
              </a:ext>
            </a:extLst>
          </p:cNvPr>
          <p:cNvSpPr>
            <a:spLocks xmlns:a="http://schemas.openxmlformats.org/drawingml/2006/main" noGrp="1"/>
          </p:cNvSpPr>
          <p:nvPr/>
        </p:nvSpPr>
        <p:spPr>
          <a:xfrm xmlns:a="http://schemas.openxmlformats.org/drawingml/2006/main">
            <a:off x="685800" y="20764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4F46E5"/>
                </a:solidFill>
                <a:latin typeface="Arial"/>
                <a:ea typeface="Arial"/>
                <a:cs typeface="Arial"/>
              </a:defRPr>
            </a:pPr>
            <a:r>
              <a:rPr sz="2025" b="1">
                <a:solidFill>
                  <a:srgbClr val="4F46E5"/>
                </a:solidFill>
                <a:latin typeface="Arial"/>
                <a:ea typeface="Arial"/>
                <a:cs typeface="Arial"/>
              </a:rPr>
              <a:t>01</a:t>
            </a:r>
          </a:p>
        </p:txBody>
      </p:sp>
      <p:sp>
        <p:nvSpPr>
          <p:cNvPr id="4" name="text-107">
            <a:extLst xmlns:a="http://schemas.openxmlformats.org/drawingml/2006/main">
              <a:ext uri="{FF2B5EF4-FFF2-40B4-BE49-F238E27FC236}">
                <a16:creationId xmlns:a16="http://schemas.microsoft.com/office/drawing/2014/main" id="{3A6D2D77-22E8-4D3A-B33F-7A559F08BD97}"/>
              </a:ext>
            </a:extLst>
          </p:cNvPr>
          <p:cNvSpPr>
            <a:spLocks xmlns:a="http://schemas.openxmlformats.org/drawingml/2006/main" noGrp="1"/>
          </p:cNvSpPr>
          <p:nvPr/>
        </p:nvSpPr>
        <p:spPr>
          <a:xfrm xmlns:a="http://schemas.openxmlformats.org/drawingml/2006/main">
            <a:off x="685800" y="2647950"/>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5223D"/>
                </a:solidFill>
                <a:latin typeface="Arial"/>
                <a:ea typeface="Arial"/>
                <a:cs typeface="Arial"/>
              </a:defRPr>
            </a:pPr>
            <a:r>
              <a:rPr sz="3225" b="1">
                <a:solidFill>
                  <a:srgbClr val="25223D"/>
                </a:solidFill>
                <a:latin typeface="Arial"/>
                <a:ea typeface="Arial"/>
                <a:cs typeface="Arial"/>
              </a:rPr>
              <a:t>Draft</a:t>
            </a:r>
          </a:p>
        </p:txBody>
      </p:sp>
      <p:sp>
        <p:nvSpPr>
          <p:cNvPr id="5" name="text-108">
            <a:extLst xmlns:a="http://schemas.openxmlformats.org/drawingml/2006/main">
              <a:ext uri="{FF2B5EF4-FFF2-40B4-BE49-F238E27FC236}">
                <a16:creationId xmlns:a16="http://schemas.microsoft.com/office/drawing/2014/main" id="{7ECF56B9-6389-40B2-B4DF-590AB2D3C29D}"/>
              </a:ext>
            </a:extLst>
          </p:cNvPr>
          <p:cNvSpPr>
            <a:spLocks xmlns:a="http://schemas.openxmlformats.org/drawingml/2006/main" noGrp="1"/>
          </p:cNvSpPr>
          <p:nvPr/>
        </p:nvSpPr>
        <p:spPr>
          <a:xfrm xmlns:a="http://schemas.openxmlformats.org/drawingml/2006/main">
            <a:off x="685800" y="3552825"/>
            <a:ext cx="2952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625E78"/>
                </a:solidFill>
                <a:latin typeface="Arial"/>
                <a:ea typeface="Arial"/>
                <a:cs typeface="Arial"/>
              </a:defRPr>
            </a:pPr>
            <a:r>
              <a:rPr sz="2100" b="0">
                <a:solidFill>
                  <a:srgbClr val="625E78"/>
                </a:solidFill>
                <a:latin typeface="Arial"/>
                <a:ea typeface="Arial"/>
                <a:cs typeface="Arial"/>
              </a:rPr>
              <a:t>Admin menyusun materi, latihan, dan tes.</a:t>
            </a:r>
          </a:p>
        </p:txBody>
      </p:sp>
      <p:sp>
        <p:nvSpPr>
          <p:cNvPr id="6" name="text-109">
            <a:extLst xmlns:a="http://schemas.openxmlformats.org/drawingml/2006/main">
              <a:ext uri="{FF2B5EF4-FFF2-40B4-BE49-F238E27FC236}">
                <a16:creationId xmlns:a16="http://schemas.microsoft.com/office/drawing/2014/main" id="{C668BD1E-7FA1-4E8E-A26F-9DB3F9D6B0D7}"/>
              </a:ext>
            </a:extLst>
          </p:cNvPr>
          <p:cNvSpPr>
            <a:spLocks xmlns:a="http://schemas.openxmlformats.org/drawingml/2006/main" noGrp="1"/>
          </p:cNvSpPr>
          <p:nvPr/>
        </p:nvSpPr>
        <p:spPr>
          <a:xfrm xmlns:a="http://schemas.openxmlformats.org/drawingml/2006/main">
            <a:off x="4400550" y="20764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4F46E5"/>
                </a:solidFill>
                <a:latin typeface="Arial"/>
                <a:ea typeface="Arial"/>
                <a:cs typeface="Arial"/>
              </a:defRPr>
            </a:pPr>
            <a:r>
              <a:rPr sz="2025" b="1">
                <a:solidFill>
                  <a:srgbClr val="4F46E5"/>
                </a:solidFill>
                <a:latin typeface="Arial"/>
                <a:ea typeface="Arial"/>
                <a:cs typeface="Arial"/>
              </a:rPr>
              <a:t>02</a:t>
            </a:r>
          </a:p>
        </p:txBody>
      </p:sp>
      <p:sp>
        <p:nvSpPr>
          <p:cNvPr id="7" name="text-110">
            <a:extLst xmlns:a="http://schemas.openxmlformats.org/drawingml/2006/main">
              <a:ext uri="{FF2B5EF4-FFF2-40B4-BE49-F238E27FC236}">
                <a16:creationId xmlns:a16="http://schemas.microsoft.com/office/drawing/2014/main" id="{1212157F-6E44-4D67-88BE-AE53EFAB37C0}"/>
              </a:ext>
            </a:extLst>
          </p:cNvPr>
          <p:cNvSpPr>
            <a:spLocks xmlns:a="http://schemas.openxmlformats.org/drawingml/2006/main" noGrp="1"/>
          </p:cNvSpPr>
          <p:nvPr/>
        </p:nvSpPr>
        <p:spPr>
          <a:xfrm xmlns:a="http://schemas.openxmlformats.org/drawingml/2006/main">
            <a:off x="4400550" y="2647950"/>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5223D"/>
                </a:solidFill>
                <a:latin typeface="Arial"/>
                <a:ea typeface="Arial"/>
                <a:cs typeface="Arial"/>
              </a:defRPr>
            </a:pPr>
            <a:r>
              <a:rPr sz="3225" b="1">
                <a:solidFill>
                  <a:srgbClr val="25223D"/>
                </a:solidFill>
                <a:latin typeface="Arial"/>
                <a:ea typeface="Arial"/>
                <a:cs typeface="Arial"/>
              </a:rPr>
              <a:t>Pratinjau</a:t>
            </a:r>
          </a:p>
        </p:txBody>
      </p:sp>
      <p:sp>
        <p:nvSpPr>
          <p:cNvPr id="8" name="text-111">
            <a:extLst xmlns:a="http://schemas.openxmlformats.org/drawingml/2006/main">
              <a:ext uri="{FF2B5EF4-FFF2-40B4-BE49-F238E27FC236}">
                <a16:creationId xmlns:a16="http://schemas.microsoft.com/office/drawing/2014/main" id="{ED15E8EF-4EBD-4854-9C3A-C5B0817B686C}"/>
              </a:ext>
            </a:extLst>
          </p:cNvPr>
          <p:cNvSpPr>
            <a:spLocks xmlns:a="http://schemas.openxmlformats.org/drawingml/2006/main" noGrp="1"/>
          </p:cNvSpPr>
          <p:nvPr/>
        </p:nvSpPr>
        <p:spPr>
          <a:xfrm xmlns:a="http://schemas.openxmlformats.org/drawingml/2006/main">
            <a:off x="4400550" y="3552825"/>
            <a:ext cx="2952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625E78"/>
                </a:solidFill>
                <a:latin typeface="Arial"/>
                <a:ea typeface="Arial"/>
                <a:cs typeface="Arial"/>
              </a:defRPr>
            </a:pPr>
            <a:r>
              <a:rPr sz="2100" b="0">
                <a:solidFill>
                  <a:srgbClr val="625E78"/>
                </a:solidFill>
                <a:latin typeface="Arial"/>
                <a:ea typeface="Arial"/>
                <a:cs typeface="Arial"/>
              </a:rPr>
              <a:t>Admin memeriksa isi serta tampilan sebelum publikasi.</a:t>
            </a:r>
          </a:p>
        </p:txBody>
      </p:sp>
      <p:sp>
        <p:nvSpPr>
          <p:cNvPr id="9" name="text-112">
            <a:extLst xmlns:a="http://schemas.openxmlformats.org/drawingml/2006/main">
              <a:ext uri="{FF2B5EF4-FFF2-40B4-BE49-F238E27FC236}">
                <a16:creationId xmlns:a16="http://schemas.microsoft.com/office/drawing/2014/main" id="{4CBD6E9C-6FAB-4E35-9B5F-108B46915ABF}"/>
              </a:ext>
            </a:extLst>
          </p:cNvPr>
          <p:cNvSpPr>
            <a:spLocks xmlns:a="http://schemas.openxmlformats.org/drawingml/2006/main" noGrp="1"/>
          </p:cNvSpPr>
          <p:nvPr/>
        </p:nvSpPr>
        <p:spPr>
          <a:xfrm xmlns:a="http://schemas.openxmlformats.org/drawingml/2006/main">
            <a:off x="8115300" y="20764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4F46E5"/>
                </a:solidFill>
                <a:latin typeface="Arial"/>
                <a:ea typeface="Arial"/>
                <a:cs typeface="Arial"/>
              </a:defRPr>
            </a:pPr>
            <a:r>
              <a:rPr sz="2025" b="1">
                <a:solidFill>
                  <a:srgbClr val="4F46E5"/>
                </a:solidFill>
                <a:latin typeface="Arial"/>
                <a:ea typeface="Arial"/>
                <a:cs typeface="Arial"/>
              </a:rPr>
              <a:t>03</a:t>
            </a:r>
          </a:p>
        </p:txBody>
      </p:sp>
      <p:sp>
        <p:nvSpPr>
          <p:cNvPr id="10" name="text-113">
            <a:extLst xmlns:a="http://schemas.openxmlformats.org/drawingml/2006/main">
              <a:ext uri="{FF2B5EF4-FFF2-40B4-BE49-F238E27FC236}">
                <a16:creationId xmlns:a16="http://schemas.microsoft.com/office/drawing/2014/main" id="{FBA7BF8F-AE2C-485F-AFA2-A790A95B667B}"/>
              </a:ext>
            </a:extLst>
          </p:cNvPr>
          <p:cNvSpPr>
            <a:spLocks xmlns:a="http://schemas.openxmlformats.org/drawingml/2006/main" noGrp="1"/>
          </p:cNvSpPr>
          <p:nvPr/>
        </p:nvSpPr>
        <p:spPr>
          <a:xfrm xmlns:a="http://schemas.openxmlformats.org/drawingml/2006/main">
            <a:off x="8115300" y="2647950"/>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5223D"/>
                </a:solidFill>
                <a:latin typeface="Arial"/>
                <a:ea typeface="Arial"/>
                <a:cs typeface="Arial"/>
              </a:defRPr>
            </a:pPr>
            <a:r>
              <a:rPr sz="3225" b="1">
                <a:solidFill>
                  <a:srgbClr val="25223D"/>
                </a:solidFill>
                <a:latin typeface="Arial"/>
                <a:ea typeface="Arial"/>
                <a:cs typeface="Arial"/>
              </a:rPr>
              <a:t>Publikasi</a:t>
            </a:r>
          </a:p>
        </p:txBody>
      </p:sp>
      <p:sp>
        <p:nvSpPr>
          <p:cNvPr id="11" name="text-114">
            <a:extLst xmlns:a="http://schemas.openxmlformats.org/drawingml/2006/main">
              <a:ext uri="{FF2B5EF4-FFF2-40B4-BE49-F238E27FC236}">
                <a16:creationId xmlns:a16="http://schemas.microsoft.com/office/drawing/2014/main" id="{BC8E373A-0206-4EE0-900C-63ADB8728D77}"/>
              </a:ext>
            </a:extLst>
          </p:cNvPr>
          <p:cNvSpPr>
            <a:spLocks xmlns:a="http://schemas.openxmlformats.org/drawingml/2006/main" noGrp="1"/>
          </p:cNvSpPr>
          <p:nvPr/>
        </p:nvSpPr>
        <p:spPr>
          <a:xfrm xmlns:a="http://schemas.openxmlformats.org/drawingml/2006/main">
            <a:off x="8115300" y="3552825"/>
            <a:ext cx="2952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625E78"/>
                </a:solidFill>
                <a:latin typeface="Arial"/>
                <a:ea typeface="Arial"/>
                <a:cs typeface="Arial"/>
              </a:defRPr>
            </a:pPr>
            <a:r>
              <a:rPr sz="2100" b="0">
                <a:solidFill>
                  <a:srgbClr val="625E78"/>
                </a:solidFill>
                <a:latin typeface="Arial"/>
                <a:ea typeface="Arial"/>
                <a:cs typeface="Arial"/>
              </a:rPr>
              <a:t>Mahasiswa mengakses konten yang sudah terpublikasi.</a:t>
            </a:r>
          </a:p>
        </p:txBody>
      </p:sp>
      <p:sp>
        <p:nvSpPr>
          <p:cNvPr id="12" name="text-115">
            <a:extLst xmlns:a="http://schemas.openxmlformats.org/drawingml/2006/main">
              <a:ext uri="{FF2B5EF4-FFF2-40B4-BE49-F238E27FC236}">
                <a16:creationId xmlns:a16="http://schemas.microsoft.com/office/drawing/2014/main" id="{4E09C4B7-580B-4D1B-9DE3-7C13A034D51B}"/>
              </a:ext>
            </a:extLst>
          </p:cNvPr>
          <p:cNvSpPr>
            <a:spLocks xmlns:a="http://schemas.openxmlformats.org/drawingml/2006/main" noGrp="1"/>
          </p:cNvSpPr>
          <p:nvPr/>
        </p:nvSpPr>
        <p:spPr>
          <a:xfrm xmlns:a="http://schemas.openxmlformats.org/drawingml/2006/main">
            <a:off x="685800" y="53911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4F46E5"/>
                </a:solidFill>
                <a:latin typeface="Arial"/>
                <a:ea typeface="Arial"/>
                <a:cs typeface="Arial"/>
              </a:defRPr>
            </a:pPr>
            <a:r>
              <a:rPr sz="2550" b="1">
                <a:solidFill>
                  <a:srgbClr val="4F46E5"/>
                </a:solidFill>
                <a:latin typeface="Arial"/>
                <a:ea typeface="Arial"/>
                <a:cs typeface="Arial"/>
              </a:rPr>
              <a:t>Akses dan perubahan konten hanya untuk ADMIN</a:t>
            </a:r>
          </a:p>
        </p:txBody>
      </p:sp>
    </p:spTree>
    <p:extLst>
      <p:ext uri="{BB962C8B-B14F-4D97-AF65-F5344CB8AC3E}">
        <p14:creationId xmlns:p14="http://schemas.microsoft.com/office/powerpoint/2010/main" val="2117753475"/>
      </p:ext>
    </p:extLst>
  </p:cSld>
</p:sld>
</file>

<file path=ppt/slides/slide13.xml><?xml version="1.0" encoding="utf-8"?>
<p:sld xmlns:p="http://schemas.openxmlformats.org/presentationml/2006/main">
  <p:cSld>
    <p:bg>
      <p:bgPr>
        <a:solidFill xmlns:a="http://schemas.openxmlformats.org/drawingml/2006/main">
          <a:srgbClr val="4F46E5"/>
        </a:solidFill>
      </p:bgPr>
    </p:bg>
    <p:spTree>
      <p:nvGrpSpPr>
        <p:cNvPr id="1" name=""/>
        <p:cNvGrpSpPr/>
        <p:nvPr/>
      </p:nvGrpSpPr>
      <p:grpSpPr>
        <a:xfrm xmlns:a="http://schemas.openxmlformats.org/drawingml/2006/main"/>
      </p:grpSpPr>
      <p:sp>
        <p:nvSpPr>
          <p:cNvPr id="6" name="text-116">
            <a:extLst xmlns:a="http://schemas.openxmlformats.org/drawingml/2006/main">
              <a:ext uri="{FF2B5EF4-FFF2-40B4-BE49-F238E27FC236}">
                <a16:creationId xmlns:a16="http://schemas.microsoft.com/office/drawing/2014/main" id="{18D5A77C-ADE0-4193-BBA7-015B16EE08DB}"/>
              </a:ext>
            </a:extLst>
          </p:cNvPr>
          <p:cNvSpPr>
            <a:spLocks xmlns:a="http://schemas.openxmlformats.org/drawingml/2006/main" noGrp="1"/>
          </p:cNvSpPr>
          <p:nvPr/>
        </p:nvSpPr>
        <p:spPr>
          <a:xfrm xmlns:a="http://schemas.openxmlformats.org/drawingml/2006/main">
            <a:off x="685800" y="962025"/>
            <a:ext cx="657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Quethink</a:t>
            </a:r>
          </a:p>
        </p:txBody>
      </p:sp>
      <p:sp>
        <p:nvSpPr>
          <p:cNvPr id="2" name="text-117">
            <a:extLst xmlns:a="http://schemas.openxmlformats.org/drawingml/2006/main">
              <a:ext uri="{FF2B5EF4-FFF2-40B4-BE49-F238E27FC236}">
                <a16:creationId xmlns:a16="http://schemas.microsoft.com/office/drawing/2014/main" id="{BBFEC090-5516-43C3-AFF8-A9D895836185}"/>
              </a:ext>
            </a:extLst>
          </p:cNvPr>
          <p:cNvSpPr>
            <a:spLocks xmlns:a="http://schemas.openxmlformats.org/drawingml/2006/main" noGrp="1"/>
          </p:cNvSpPr>
          <p:nvPr/>
        </p:nvSpPr>
        <p:spPr>
          <a:xfrm xmlns:a="http://schemas.openxmlformats.org/drawingml/2006/main">
            <a:off x="723900" y="2600325"/>
            <a:ext cx="72866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Belajar basis data</a:t>
            </a:r>
          </a:p>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dengan mencoba sendiri</a:t>
            </a:r>
          </a:p>
        </p:txBody>
      </p:sp>
      <p:sp>
        <p:nvSpPr>
          <p:cNvPr id="3" name="text-118">
            <a:extLst xmlns:a="http://schemas.openxmlformats.org/drawingml/2006/main">
              <a:ext uri="{FF2B5EF4-FFF2-40B4-BE49-F238E27FC236}">
                <a16:creationId xmlns:a16="http://schemas.microsoft.com/office/drawing/2014/main" id="{C07434B6-1538-4931-AC25-A77697EA57B8}"/>
              </a:ext>
            </a:extLst>
          </p:cNvPr>
          <p:cNvSpPr>
            <a:spLocks xmlns:a="http://schemas.openxmlformats.org/drawingml/2006/main" noGrp="1"/>
          </p:cNvSpPr>
          <p:nvPr/>
        </p:nvSpPr>
        <p:spPr>
          <a:xfrm xmlns:a="http://schemas.openxmlformats.org/drawingml/2006/main">
            <a:off x="742950" y="4438650"/>
            <a:ext cx="704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EEECFB"/>
                </a:solidFill>
                <a:latin typeface="Arial"/>
                <a:ea typeface="Arial"/>
                <a:cs typeface="Arial"/>
              </a:defRPr>
            </a:pPr>
            <a:r>
              <a:rPr sz="2100" b="0">
                <a:solidFill>
                  <a:srgbClr val="EEECFB"/>
                </a:solidFill>
                <a:latin typeface="Arial"/>
                <a:ea typeface="Arial"/>
                <a:cs typeface="Arial"/>
              </a:rPr>
              <a:t>Cukup nama untuk mencoba.</a:t>
            </a:r>
          </a:p>
          <a:p xmlns:a="http://schemas.openxmlformats.org/drawingml/2006/main">
            <a:pPr>
              <a:defRPr sz="2100" b="0">
                <a:solidFill>
                  <a:srgbClr val="EEECFB"/>
                </a:solidFill>
                <a:latin typeface="Arial"/>
                <a:ea typeface="Arial"/>
                <a:cs typeface="Arial"/>
              </a:defRPr>
            </a:pPr>
            <a:r>
              <a:rPr sz="2100" b="0">
                <a:solidFill>
                  <a:srgbClr val="EEECFB"/>
                </a:solidFill>
                <a:latin typeface="Arial"/>
                <a:ea typeface="Arial"/>
                <a:cs typeface="Arial"/>
              </a:rPr>
              <a:t>Gunakan akun untuk menyimpan progres.</a:t>
            </a:r>
          </a:p>
        </p:txBody>
      </p:sp>
      <p:sp>
        <p:nvSpPr>
          <p:cNvPr id="4" name="text-119">
            <a:extLst xmlns:a="http://schemas.openxmlformats.org/drawingml/2006/main">
              <a:ext uri="{FF2B5EF4-FFF2-40B4-BE49-F238E27FC236}">
                <a16:creationId xmlns:a16="http://schemas.microsoft.com/office/drawing/2014/main" id="{49DB6140-B6A2-4A73-B82F-BB925DD6FCD8}"/>
              </a:ext>
            </a:extLst>
          </p:cNvPr>
          <p:cNvSpPr>
            <a:spLocks xmlns:a="http://schemas.openxmlformats.org/drawingml/2006/main" noGrp="1"/>
          </p:cNvSpPr>
          <p:nvPr/>
        </p:nvSpPr>
        <p:spPr>
          <a:xfrm xmlns:a="http://schemas.openxmlformats.org/drawingml/2006/main">
            <a:off x="742950" y="5724525"/>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hlinkClick xmlns:r="http://schemas.openxmlformats.org/officeDocument/2006/relationships" r:id="Rf4f61e7b66b74d2b"/>
              </a:rPr>
              <a:t>www.barlabs.my.id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88ff81cb4b44987"/>
          <a:stretch xmlns:a="http://schemas.openxmlformats.org/drawingml/2006/main"/>
        </p:blipFill>
        <p:spPr>
          <a:xfrm xmlns:a="http://schemas.openxmlformats.org/drawingml/2006/main">
            <a:off x="8877300" y="2162175"/>
            <a:ext cx="2438400" cy="2438400"/>
          </a:xfrm>
          <a:prstGeom xmlns:a="http://schemas.openxmlformats.org/drawingml/2006/main" prst="rect">
            <a:avLst/>
          </a:prstGeom>
        </p:spPr>
      </p:pic>
    </p:spTree>
    <p:extLst>
      <p:ext uri="{BB962C8B-B14F-4D97-AF65-F5344CB8AC3E}">
        <p14:creationId xmlns:p14="http://schemas.microsoft.com/office/powerpoint/2010/main" val="3305116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2026-10-07T14:12:34.5150000Z</dcterms:created>
  <dcterms:modified xsi:type="dcterms:W3CDTF">2026-10-07T14:12:34.5150000Z</dcterms:modified>
</coreProperties>
</file>