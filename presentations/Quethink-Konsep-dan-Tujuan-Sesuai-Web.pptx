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253f33e3dfd4c24" /><Relationship Type="http://schemas.openxmlformats.org/officeDocument/2006/relationships/extended-properties" Target="/docProps/app.xml" Id="R9f8271b10db64a5a" /><Relationship Type="http://schemas.openxmlformats.org/officeDocument/2006/relationships/officeDocument" Target="/ppt/presentation.xml" Id="Rc14a80302ab74f9f" /></Relationships>
</file>

<file path=ppt/presentation.xml><?xml version="1.0" encoding="utf-8"?>
<p:presentation xmlns:p="http://schemas.openxmlformats.org/presentationml/2006/main">
  <p:sldMasterIdLst>
    <p:sldMasterId xmlns:r="http://schemas.openxmlformats.org/officeDocument/2006/relationships" id="2147483648" r:id="Ra7ff37feea974356"/>
  </p:sldMasterIdLst>
  <p:notesMasterIdLst>
    <p:notesMasterId xmlns:r="http://schemas.openxmlformats.org/officeDocument/2006/relationships" r:id="R52d465f2e7fd497a"/>
  </p:notesMasterIdLst>
  <p:sldIdLst>
    <p:sldId xmlns:r="http://schemas.openxmlformats.org/officeDocument/2006/relationships" id="256" r:id="R6a2a3865b03e4714"/>
    <p:sldId xmlns:r="http://schemas.openxmlformats.org/officeDocument/2006/relationships" id="257" r:id="R2785d61b948a4339"/>
    <p:sldId xmlns:r="http://schemas.openxmlformats.org/officeDocument/2006/relationships" id="258" r:id="Rcd9b1e7b081f4984"/>
    <p:sldId xmlns:r="http://schemas.openxmlformats.org/officeDocument/2006/relationships" id="259" r:id="Raf1f202a9daa4a74"/>
    <p:sldId xmlns:r="http://schemas.openxmlformats.org/officeDocument/2006/relationships" id="260" r:id="R98a2dda6a66146a5"/>
    <p:sldId xmlns:r="http://schemas.openxmlformats.org/officeDocument/2006/relationships" id="261" r:id="R0be22ac23dfb4c14"/>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1eed819a4894109" /><Relationship Type="http://schemas.openxmlformats.org/officeDocument/2006/relationships/slideMaster" Target="/ppt/slideMasters/slideMaster1.xml" Id="Ra7ff37feea974356" /><Relationship Type="http://schemas.openxmlformats.org/officeDocument/2006/relationships/notesMaster" Target="/ppt/notesMasters/notesMaster1.xml" Id="R52d465f2e7fd497a" /><Relationship Type="http://schemas.openxmlformats.org/officeDocument/2006/relationships/presProps" Target="/ppt/presProps.xml" Id="R48e2cc69a56a46bb" /><Relationship Type="http://schemas.openxmlformats.org/officeDocument/2006/relationships/viewProps" Target="/ppt/viewProps.xml" Id="Ra19477e0c60d4ded" /><Relationship Type="http://schemas.openxmlformats.org/officeDocument/2006/relationships/tableStyles" Target="/ppt/tableStyles.xml" Id="R6daf27b0e1c6434e" /><Relationship Type="http://schemas.openxmlformats.org/officeDocument/2006/relationships/slide" Target="/ppt/slides/slide1.xml" Id="R6a2a3865b03e4714" /><Relationship Type="http://schemas.openxmlformats.org/officeDocument/2006/relationships/slide" Target="/ppt/slides/slide2.xml" Id="R2785d61b948a4339" /><Relationship Type="http://schemas.openxmlformats.org/officeDocument/2006/relationships/slide" Target="/ppt/slides/slide3.xml" Id="Rcd9b1e7b081f4984" /><Relationship Type="http://schemas.openxmlformats.org/officeDocument/2006/relationships/slide" Target="/ppt/slides/slide4.xml" Id="Raf1f202a9daa4a74" /><Relationship Type="http://schemas.openxmlformats.org/officeDocument/2006/relationships/slide" Target="/ppt/slides/slide5.xml" Id="R98a2dda6a66146a5" /><Relationship Type="http://schemas.openxmlformats.org/officeDocument/2006/relationships/slide" Target="/ppt/slides/slide6.xml" Id="R0be22ac23dfb4c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34be01285f49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e795a1b6d24d78" /><Relationship Type="http://schemas.openxmlformats.org/officeDocument/2006/relationships/notesMaster" Target="/ppt/notesMasters/notesMaster1.xml" Id="R10653b59bb4947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a4efcf2a9744307" /><Relationship Type="http://schemas.openxmlformats.org/officeDocument/2006/relationships/notesMaster" Target="/ppt/notesMasters/notesMaster1.xml" Id="R928dca9b7e9546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b1d61403a040f0" /><Relationship Type="http://schemas.openxmlformats.org/officeDocument/2006/relationships/notesMaster" Target="/ppt/notesMasters/notesMaster1.xml" Id="R540417fddfdd46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015165779847e5" /><Relationship Type="http://schemas.openxmlformats.org/officeDocument/2006/relationships/notesMaster" Target="/ppt/notesMasters/notesMaster1.xml" Id="R0c79b8fe9e1e4b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d9e6bd9b62464d" /><Relationship Type="http://schemas.openxmlformats.org/officeDocument/2006/relationships/notesMaster" Target="/ppt/notesMasters/notesMaster1.xml" Id="R2a8380c8c2a445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822fcb489f4f09" /><Relationship Type="http://schemas.openxmlformats.org/officeDocument/2006/relationships/notesMaster" Target="/ppt/notesMasters/notesMaster1.xml" Id="R11e2e81c53eb48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Apa itu Quethink? Platform pembelajaran basis data yang memadukan materi, praktik SQL, visualisasi 2D, Tutor AI, dan tes. Fokusnya memahami relasi dan pengaruh query terhadap data.</a:t>
            </a:r>
          </a:p>
          <a:p xmlns:a="http://schemas.openxmlformats.org/drawingml/2006/main">
            <a:pPr>
              <a:buNone/>
            </a:pPr>
            <a:endParaRPr/>
          </a:p>
          <a:p xmlns:a="http://schemas.openxmlformats.org/drawingml/2006/main">
            <a:pPr>
              <a:buNone/>
            </a:pPr>
            <a:r>
              <a:t>Sumber: docs/01-PRD.md, docs/AGENTS.md.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Quethink dirancang untuk menghubungkan penjelasan konsep dengan pengalaman mencoba. Poin pada slide ini adalah alasan dan pendekatan desain, bukan klaim efektivitas yang sudah diukur.</a:t>
            </a:r>
          </a:p>
          <a:p xmlns:a="http://schemas.openxmlformats.org/drawingml/2006/main">
            <a:pPr>
              <a:buNone/>
            </a:pPr>
            <a:endParaRPr/>
          </a:p>
          <a:p xmlns:a="http://schemas.openxmlformats.org/drawingml/2006/main">
            <a:pPr>
              <a:buNone/>
            </a:pPr>
            <a:r>
              <a:t>Sumber: docs/01-PRD.md, docs/03-LEARNING_SYSTEM.md.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Alur saat ini: membaca materi → Lab inti → materi berikutnya → Tantangan Akhir. Materi dan Lab diulang sampai semua materi wajib tuntas. Video adalah pendamping yang tersedia pada beberapa materi. Tantangan Akhir mensyaratkan nilai minimal 75; AI nonaktif selama tes aktif. SQLab adalah eksplorasi mandiri dengan AI pembuat draf tabel, relasi, dan contoh data untuk ditinjau lalu diterapkan pengguna. Forum tersedia untuk diskusi basis data dan umum. Sumber: docs/AGENTS.md, docs/03-LEARNING_SYSTEM.md, docs/05-AI_AGENT.md, docs/planning/2026-10-08-forum.md.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Sasaran utamanya mahasiswa Informatika semester awal dengan pengalaman SQL yang masih terbatas. Akun menyimpan progres di cloud; tamu dapat mencoba fitur dan menyimpan progres secara lokal pada perangkat.</a:t>
            </a:r>
          </a:p>
          <a:p xmlns:a="http://schemas.openxmlformats.org/drawingml/2006/main">
            <a:pPr>
              <a:buNone/>
            </a:pPr>
            <a:endParaRPr/>
          </a:p>
          <a:p xmlns:a="http://schemas.openxmlformats.org/drawingml/2006/main">
            <a:pPr>
              <a:buNone/>
            </a:pPr>
            <a:r>
              <a:t>Sumber: docs/01-PRD.md, docs/AGENTS.md.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Tujuan Quethink adalah membangun pemahaman konsep, keterampilan SQL dasar, dan kebiasaan memeriksa hasil secara mandiri. Tujuan ini belum merupakan bukti peningkatan hasil belajar; efektivitas perlu diuji melalui penggunaan nyata.</a:t>
            </a:r>
          </a:p>
          <a:p xmlns:a="http://schemas.openxmlformats.org/drawingml/2006/main">
            <a:pPr>
              <a:buNone/>
            </a:pPr>
            <a:endParaRPr/>
          </a:p>
          <a:p xmlns:a="http://schemas.openxmlformats.org/drawingml/2006/main">
            <a:pPr>
              <a:buNone/>
            </a:pPr>
            <a:r>
              <a:t>Sumber: docs/04-CURRICULUM.md, docs/01-PRD.md. Screenshot menggunakan demo tamu dengan data sintetis, bukan data mahasiswa.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a53892472246ee" /></Relationships>
</file>

<file path=ppt/slideLayouts/slideLayout1.xml><?xml version="1.0" encoding="utf-8"?>
<p:sldLayout xmlns:p="http://schemas.openxmlformats.org/presentationml/2006/main" showMasterPhAnim="0" type="title" userDrawn="1">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2610f4f3fb4243" /><Relationship Type="http://schemas.openxmlformats.org/officeDocument/2006/relationships/slideLayout" Target="/ppt/slideLayouts/slideLayout1.xml" Id="R2a1350b9601b4f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1350b9601b4f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df845cab974e31" /><Relationship Type="http://schemas.openxmlformats.org/officeDocument/2006/relationships/image" Target="/ppt/media/image.png" Id="R5a3f549d7f9a4257" /><Relationship Type="http://schemas.openxmlformats.org/officeDocument/2006/relationships/image" Target="/ppt/media/image2.png" Id="R8f5eb38e31a943f2" /><Relationship Type="http://schemas.openxmlformats.org/officeDocument/2006/relationships/notesSlide" Target="/ppt/notesSlides/notesSlide1.xml" Id="R99d493a6cee54e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6f215aff30243de" /><Relationship Type="http://schemas.openxmlformats.org/officeDocument/2006/relationships/image" Target="/ppt/media/image3.png" Id="Rdc74b03a2bc54a37" /><Relationship Type="http://schemas.openxmlformats.org/officeDocument/2006/relationships/notesSlide" Target="/ppt/notesSlides/notesSlide2.xml" Id="Rabefec54586448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bc7de0f7d54378" /><Relationship Type="http://schemas.openxmlformats.org/officeDocument/2006/relationships/notesSlide" Target="/ppt/notesSlides/notesSlide3.xml" Id="Rb8132a8dd4a84e7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b672d8fbe1643f7" /><Relationship Type="http://schemas.openxmlformats.org/officeDocument/2006/relationships/image" Target="/ppt/media/image4.png" Id="R687e696eb00b4fc7" /><Relationship Type="http://schemas.openxmlformats.org/officeDocument/2006/relationships/notesSlide" Target="/ppt/notesSlides/notesSlide4.xml" Id="Rcefb5605e3ac40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9513a2abccc425f" /><Relationship Type="http://schemas.openxmlformats.org/officeDocument/2006/relationships/notesSlide" Target="/ppt/notesSlides/notesSlide5.xml" Id="R5a44e8f6fce743f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41f32a8ef7f4655" /><Relationship Type="http://schemas.openxmlformats.org/officeDocument/2006/relationships/notesSlide" Target="/ppt/notesSlides/notesSlide6.xml" Id="Rdb285fcc1d3d4f25" /></Relationships>
</file>

<file path=ppt/slides/slide1.xml><?xml version="1.0" encoding="utf-8"?>
<p:sld xmlns:p="http://schemas.openxmlformats.org/presentationml/2006/main">
  <p:cSld>
    <p:bg>
      <p:bgPr>
        <a:solidFill xmlns:a="http://schemas.openxmlformats.org/drawingml/2006/main">
          <a:srgbClr val="F8F7FC"/>
        </a:solidFill>
      </p:bgPr>
    </p:bg>
    <p:spTree>
      <p:nvGrpSpPr>
        <p:cNvPr id="1" name=""/>
        <p:cNvGrpSpPr/>
        <p:nvPr/>
      </p:nvGrpSpPr>
      <p:grpSpPr>
        <a:xfrm xmlns:a="http://schemas.openxmlformats.org/drawingml/2006/main"/>
      </p:grpSpPr>
      <p:pic>
        <p:nvPicPr>
          <p:cNvPr id="1067104740" name="Picture 1067104739">
            <a:extLst xmlns:a="http://schemas.openxmlformats.org/drawingml/2006/main">
              <a:ext uri="{FF2B5EF4-FFF2-40B4-BE49-F238E27FC236}">
                <a16:creationId xmlns:a16="http://schemas.microsoft.com/office/drawing/2014/main" id="{4C449DB2-B624-4390-85A8-EA2B3A4A882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a3f549d7f9a4257"/>
          <a:stretch xmlns:a="http://schemas.openxmlformats.org/drawingml/2006/main"/>
        </p:blipFill>
        <p:spPr>
          <a:xfrm xmlns:a="http://schemas.openxmlformats.org/drawingml/2006/main">
            <a:off x="685800" y="628650"/>
            <a:ext cx="685800" cy="685800"/>
          </a:xfrm>
          <a:prstGeom xmlns:a="http://schemas.openxmlformats.org/drawingml/2006/main" prst="rect">
            <a:avLst/>
          </a:prstGeom>
        </p:spPr>
      </p:pic>
      <p:sp>
        <p:nvSpPr>
          <p:cNvPr id="872628245" name="text-1">
            <a:extLst xmlns:a="http://schemas.openxmlformats.org/drawingml/2006/main">
              <a:ext uri="{FF2B5EF4-FFF2-40B4-BE49-F238E27FC236}">
                <a16:creationId xmlns:a16="http://schemas.microsoft.com/office/drawing/2014/main" id="{DA9BA5EC-995B-4272-884A-0F76B9519C5E}"/>
              </a:ext>
            </a:extLst>
          </p:cNvPr>
          <p:cNvSpPr>
            <a:spLocks xmlns:a="http://schemas.openxmlformats.org/drawingml/2006/main" noGrp="1"/>
          </p:cNvSpPr>
          <p:nvPr/>
        </p:nvSpPr>
        <p:spPr>
          <a:xfrm xmlns:a="http://schemas.openxmlformats.org/drawingml/2006/main">
            <a:off x="685800" y="1809750"/>
            <a:ext cx="7334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600" b="1">
                <a:solidFill>
                  <a:srgbClr val="25223D"/>
                </a:solidFill>
                <a:latin typeface="Arial"/>
                <a:ea typeface="Arial"/>
                <a:cs typeface="Arial"/>
              </a:defRPr>
            </a:pPr>
            <a:r>
              <a:rPr sz="6600" b="1">
                <a:solidFill>
                  <a:srgbClr val="25223D"/>
                </a:solidFill>
                <a:latin typeface="Arial"/>
                <a:ea typeface="Arial"/>
                <a:cs typeface="Arial"/>
              </a:rPr>
              <a:t>Quethink</a:t>
            </a:r>
            <a:endParaRPr/>
          </a:p>
        </p:txBody>
      </p:sp>
      <p:sp>
        <p:nvSpPr>
          <p:cNvPr id="1520349260" name="text-2">
            <a:extLst xmlns:a="http://schemas.openxmlformats.org/drawingml/2006/main">
              <a:ext uri="{FF2B5EF4-FFF2-40B4-BE49-F238E27FC236}">
                <a16:creationId xmlns:a16="http://schemas.microsoft.com/office/drawing/2014/main" id="{BA17C901-C2C0-4F6A-9D84-6FC44A09B339}"/>
              </a:ext>
            </a:extLst>
          </p:cNvPr>
          <p:cNvSpPr>
            <a:spLocks xmlns:a="http://schemas.openxmlformats.org/drawingml/2006/main" noGrp="1"/>
          </p:cNvSpPr>
          <p:nvPr/>
        </p:nvSpPr>
        <p:spPr>
          <a:xfrm xmlns:a="http://schemas.openxmlformats.org/drawingml/2006/main">
            <a:off x="723900" y="3095625"/>
            <a:ext cx="7429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250" b="1">
                <a:solidFill>
                  <a:srgbClr val="4F46E5"/>
                </a:solidFill>
                <a:latin typeface="Arial"/>
                <a:ea typeface="Arial"/>
                <a:cs typeface="Arial"/>
              </a:defRPr>
            </a:pPr>
            <a:r>
              <a:rPr sz="3250" b="1">
                <a:solidFill>
                  <a:srgbClr val="4F46E5"/>
                </a:solidFill>
                <a:latin typeface="Arial"/>
                <a:ea typeface="Arial"/>
                <a:cs typeface="Arial"/>
              </a:rPr>
              <a:t>Belajar basis data</a:t>
            </a:r>
            <a:endParaRPr/>
          </a:p>
          <a:p xmlns:a="http://schemas.openxmlformats.org/drawingml/2006/main">
            <a:pPr>
              <a:buNone/>
              <a:defRPr sz="3250" b="1">
                <a:solidFill>
                  <a:srgbClr val="4F46E5"/>
                </a:solidFill>
                <a:latin typeface="Arial"/>
                <a:ea typeface="Arial"/>
                <a:cs typeface="Arial"/>
              </a:defRPr>
            </a:pPr>
            <a:r>
              <a:rPr sz="3250" b="1">
                <a:solidFill>
                  <a:srgbClr val="4F46E5"/>
                </a:solidFill>
                <a:latin typeface="Arial"/>
                <a:ea typeface="Arial"/>
                <a:cs typeface="Arial"/>
              </a:rPr>
              <a:t>melalui query dan visualisasi</a:t>
            </a:r>
            <a:endParaRPr/>
          </a:p>
        </p:txBody>
      </p:sp>
      <p:sp>
        <p:nvSpPr>
          <p:cNvPr id="631469504" name="text-3">
            <a:extLst xmlns:a="http://schemas.openxmlformats.org/drawingml/2006/main">
              <a:ext uri="{FF2B5EF4-FFF2-40B4-BE49-F238E27FC236}">
                <a16:creationId xmlns:a16="http://schemas.microsoft.com/office/drawing/2014/main" id="{F4600671-3B4E-4B32-9A78-60C2D81EFAFA}"/>
              </a:ext>
            </a:extLst>
          </p:cNvPr>
          <p:cNvSpPr>
            <a:spLocks xmlns:a="http://schemas.openxmlformats.org/drawingml/2006/main" noGrp="1"/>
          </p:cNvSpPr>
          <p:nvPr/>
        </p:nvSpPr>
        <p:spPr>
          <a:xfrm xmlns:a="http://schemas.openxmlformats.org/drawingml/2006/main">
            <a:off x="742950" y="5095875"/>
            <a:ext cx="685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00" b="0">
                <a:solidFill>
                  <a:srgbClr val="625E78"/>
                </a:solidFill>
                <a:latin typeface="Arial"/>
                <a:ea typeface="Arial"/>
                <a:cs typeface="Arial"/>
              </a:defRPr>
            </a:pPr>
            <a:r>
              <a:rPr sz="2200" b="0">
                <a:solidFill>
                  <a:srgbClr val="625E78"/>
                </a:solidFill>
                <a:latin typeface="Arial"/>
                <a:ea typeface="Arial"/>
                <a:cs typeface="Arial"/>
              </a:rPr>
              <a:t>Platform belajar interaktif</a:t>
            </a:r>
            <a:endParaRPr/>
          </a:p>
          <a:p xmlns:a="http://schemas.openxmlformats.org/drawingml/2006/main">
            <a:pPr>
              <a:buNone/>
              <a:defRPr sz="2200" b="0">
                <a:solidFill>
                  <a:srgbClr val="625E78"/>
                </a:solidFill>
                <a:latin typeface="Arial"/>
                <a:ea typeface="Arial"/>
                <a:cs typeface="Arial"/>
              </a:defRPr>
            </a:pPr>
            <a:r>
              <a:rPr sz="2200" b="0">
                <a:solidFill>
                  <a:srgbClr val="625E78"/>
                </a:solidFill>
                <a:latin typeface="Arial"/>
                <a:ea typeface="Arial"/>
                <a:cs typeface="Arial"/>
              </a:rPr>
              <a:t>untuk mahasiswa pemula.</a:t>
            </a:r>
            <a:endParaRPr/>
          </a:p>
        </p:txBody>
      </p:sp>
      <p:pic>
        <p:nvPicPr>
          <p:cNvPr id="1257173322" name="Picture 1257173321">
            <a:extLst xmlns:a="http://schemas.openxmlformats.org/drawingml/2006/main">
              <a:ext uri="{FF2B5EF4-FFF2-40B4-BE49-F238E27FC236}">
                <a16:creationId xmlns:a16="http://schemas.microsoft.com/office/drawing/2014/main" id="{EA97BD22-1C3E-4A05-BF59-769057C9E82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f5eb38e31a943f2"/>
          <a:stretch xmlns:a="http://schemas.openxmlformats.org/drawingml/2006/main"/>
        </p:blipFill>
        <p:spPr>
          <a:xfrm xmlns:a="http://schemas.openxmlformats.org/drawingml/2006/main">
            <a:off x="8620125" y="2269331"/>
            <a:ext cx="2619375" cy="2357438"/>
          </a:xfrm>
          <a:prstGeom xmlns:a="http://schemas.openxmlformats.org/drawingml/2006/main" prst="rect">
            <a:avLst/>
          </a:prstGeom>
        </p:spPr>
      </p:pic>
    </p:spTree>
    <p:extLst>
      <p:ext uri="{BB962C8B-B14F-4D97-AF65-F5344CB8AC3E}">
        <p14:creationId xmlns:p14="http://schemas.microsoft.com/office/powerpoint/2010/main" val="5211269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7027315" name="text-4">
            <a:extLst xmlns:a="http://schemas.openxmlformats.org/drawingml/2006/main">
              <a:ext uri="{FF2B5EF4-FFF2-40B4-BE49-F238E27FC236}">
                <a16:creationId xmlns:a16="http://schemas.microsoft.com/office/drawing/2014/main" id="{8207DF51-71B0-4A56-B257-CE47C2D3D8BE}"/>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25223D"/>
                </a:solidFill>
                <a:latin typeface="Arial"/>
                <a:ea typeface="Arial"/>
                <a:cs typeface="Arial"/>
              </a:defRPr>
            </a:pPr>
            <a:r>
              <a:rPr sz="3450" b="1">
                <a:solidFill>
                  <a:srgbClr val="25223D"/>
                </a:solidFill>
                <a:latin typeface="Arial"/>
                <a:ea typeface="Arial"/>
                <a:cs typeface="Arial"/>
              </a:rPr>
              <a:t>Mengapa Quethink dibuat?</a:t>
            </a:r>
            <a:endParaRPr/>
          </a:p>
        </p:txBody>
      </p:sp>
      <p:sp>
        <p:nvSpPr>
          <p:cNvPr id="1907624116" name="text-5">
            <a:extLst xmlns:a="http://schemas.openxmlformats.org/drawingml/2006/main">
              <a:ext uri="{FF2B5EF4-FFF2-40B4-BE49-F238E27FC236}">
                <a16:creationId xmlns:a16="http://schemas.microsoft.com/office/drawing/2014/main" id="{0B1573BC-DEF5-4ECA-8896-49D00D9CCAED}"/>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00" b="0">
                <a:solidFill>
                  <a:srgbClr val="625E78"/>
                </a:solidFill>
                <a:latin typeface="Arial"/>
                <a:ea typeface="Arial"/>
                <a:cs typeface="Arial"/>
              </a:defRPr>
            </a:pPr>
            <a:r>
              <a:rPr sz="1300" b="0">
                <a:solidFill>
                  <a:srgbClr val="625E78"/>
                </a:solidFill>
                <a:latin typeface="Arial"/>
                <a:ea typeface="Arial"/>
                <a:cs typeface="Arial"/>
              </a:rPr>
              <a:t>02</a:t>
            </a:r>
            <a:endParaRPr/>
          </a:p>
        </p:txBody>
      </p:sp>
      <p:sp>
        <p:nvSpPr>
          <p:cNvPr id="1652955768" name="text-6">
            <a:extLst xmlns:a="http://schemas.openxmlformats.org/drawingml/2006/main">
              <a:ext uri="{FF2B5EF4-FFF2-40B4-BE49-F238E27FC236}">
                <a16:creationId xmlns:a16="http://schemas.microsoft.com/office/drawing/2014/main" id="{9543C9B4-3118-4709-8BC7-51BDA733705C}"/>
              </a:ext>
            </a:extLst>
          </p:cNvPr>
          <p:cNvSpPr>
            <a:spLocks xmlns:a="http://schemas.openxmlformats.org/drawingml/2006/main" noGrp="1"/>
          </p:cNvSpPr>
          <p:nvPr/>
        </p:nvSpPr>
        <p:spPr>
          <a:xfrm xmlns:a="http://schemas.openxmlformats.org/drawingml/2006/main">
            <a:off x="685800" y="1809750"/>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00" b="1">
                <a:solidFill>
                  <a:srgbClr val="25223D"/>
                </a:solidFill>
                <a:latin typeface="Arial"/>
                <a:ea typeface="Arial"/>
                <a:cs typeface="Arial"/>
              </a:defRPr>
            </a:pPr>
            <a:r>
              <a:rPr sz="2200" b="1">
                <a:solidFill>
                  <a:srgbClr val="25223D"/>
                </a:solidFill>
                <a:latin typeface="Arial"/>
                <a:ea typeface="Arial"/>
                <a:cs typeface="Arial"/>
              </a:rPr>
              <a:t>Relasi perlu terlihat</a:t>
            </a:r>
            <a:endParaRPr/>
          </a:p>
        </p:txBody>
      </p:sp>
      <p:sp>
        <p:nvSpPr>
          <p:cNvPr id="479775058" name="text-7">
            <a:extLst xmlns:a="http://schemas.openxmlformats.org/drawingml/2006/main">
              <a:ext uri="{FF2B5EF4-FFF2-40B4-BE49-F238E27FC236}">
                <a16:creationId xmlns:a16="http://schemas.microsoft.com/office/drawing/2014/main" id="{7D216D5F-26F0-46A3-898C-78084741056A}"/>
              </a:ext>
            </a:extLst>
          </p:cNvPr>
          <p:cNvSpPr>
            <a:spLocks xmlns:a="http://schemas.openxmlformats.org/drawingml/2006/main" noGrp="1"/>
          </p:cNvSpPr>
          <p:nvPr/>
        </p:nvSpPr>
        <p:spPr>
          <a:xfrm xmlns:a="http://schemas.openxmlformats.org/drawingml/2006/main">
            <a:off x="685800" y="2228850"/>
            <a:ext cx="638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Tabel, kunci, dan hubungan antardata</a:t>
            </a:r>
            <a:endParaRPr/>
          </a:p>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lebih mudah diamati secara visual.</a:t>
            </a:r>
            <a:endParaRPr/>
          </a:p>
        </p:txBody>
      </p:sp>
      <p:sp>
        <p:nvSpPr>
          <p:cNvPr id="471120287" name="text-8">
            <a:extLst xmlns:a="http://schemas.openxmlformats.org/drawingml/2006/main">
              <a:ext uri="{FF2B5EF4-FFF2-40B4-BE49-F238E27FC236}">
                <a16:creationId xmlns:a16="http://schemas.microsoft.com/office/drawing/2014/main" id="{0332E30B-527F-4749-A434-DCA5C5846657}"/>
              </a:ext>
            </a:extLst>
          </p:cNvPr>
          <p:cNvSpPr>
            <a:spLocks xmlns:a="http://schemas.openxmlformats.org/drawingml/2006/main" noGrp="1"/>
          </p:cNvSpPr>
          <p:nvPr/>
        </p:nvSpPr>
        <p:spPr>
          <a:xfrm xmlns:a="http://schemas.openxmlformats.org/drawingml/2006/main">
            <a:off x="685800" y="3333750"/>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00" b="1">
                <a:solidFill>
                  <a:srgbClr val="25223D"/>
                </a:solidFill>
                <a:latin typeface="Arial"/>
                <a:ea typeface="Arial"/>
                <a:cs typeface="Arial"/>
              </a:defRPr>
            </a:pPr>
            <a:r>
              <a:rPr sz="2200" b="1">
                <a:solidFill>
                  <a:srgbClr val="25223D"/>
                </a:solidFill>
                <a:latin typeface="Arial"/>
                <a:ea typeface="Arial"/>
                <a:cs typeface="Arial"/>
              </a:rPr>
              <a:t>Query perlu dicoba</a:t>
            </a:r>
            <a:endParaRPr/>
          </a:p>
        </p:txBody>
      </p:sp>
      <p:sp>
        <p:nvSpPr>
          <p:cNvPr id="1819619900" name="text-9">
            <a:extLst xmlns:a="http://schemas.openxmlformats.org/drawingml/2006/main">
              <a:ext uri="{FF2B5EF4-FFF2-40B4-BE49-F238E27FC236}">
                <a16:creationId xmlns:a16="http://schemas.microsoft.com/office/drawing/2014/main" id="{36007E21-2C27-49DA-BE4D-3F4F2B86F7C2}"/>
              </a:ext>
            </a:extLst>
          </p:cNvPr>
          <p:cNvSpPr>
            <a:spLocks xmlns:a="http://schemas.openxmlformats.org/drawingml/2006/main" noGrp="1"/>
          </p:cNvSpPr>
          <p:nvPr/>
        </p:nvSpPr>
        <p:spPr>
          <a:xfrm xmlns:a="http://schemas.openxmlformats.org/drawingml/2006/main">
            <a:off x="685800" y="3752850"/>
            <a:ext cx="638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Mahasiswa dapat melihat hasil query</a:t>
            </a:r>
            <a:endParaRPr/>
          </a:p>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dan perubahan pada data sintetis.</a:t>
            </a:r>
            <a:endParaRPr/>
          </a:p>
        </p:txBody>
      </p:sp>
      <p:sp>
        <p:nvSpPr>
          <p:cNvPr id="1560299711" name="text-10">
            <a:extLst xmlns:a="http://schemas.openxmlformats.org/drawingml/2006/main">
              <a:ext uri="{FF2B5EF4-FFF2-40B4-BE49-F238E27FC236}">
                <a16:creationId xmlns:a16="http://schemas.microsoft.com/office/drawing/2014/main" id="{0797C215-E879-4C66-9287-D7354BC3E23D}"/>
              </a:ext>
            </a:extLst>
          </p:cNvPr>
          <p:cNvSpPr>
            <a:spLocks xmlns:a="http://schemas.openxmlformats.org/drawingml/2006/main" noGrp="1"/>
          </p:cNvSpPr>
          <p:nvPr/>
        </p:nvSpPr>
        <p:spPr>
          <a:xfrm xmlns:a="http://schemas.openxmlformats.org/drawingml/2006/main">
            <a:off x="685800" y="4857750"/>
            <a:ext cx="638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00" b="1">
                <a:solidFill>
                  <a:srgbClr val="25223D"/>
                </a:solidFill>
                <a:latin typeface="Arial"/>
                <a:ea typeface="Arial"/>
                <a:cs typeface="Arial"/>
              </a:defRPr>
            </a:pPr>
            <a:r>
              <a:rPr sz="2200" b="1">
                <a:solidFill>
                  <a:srgbClr val="25223D"/>
                </a:solidFill>
                <a:latin typeface="Arial"/>
                <a:ea typeface="Arial"/>
                <a:cs typeface="Arial"/>
              </a:rPr>
              <a:t>Belajar perlu terarah</a:t>
            </a:r>
            <a:endParaRPr/>
          </a:p>
        </p:txBody>
      </p:sp>
      <p:sp>
        <p:nvSpPr>
          <p:cNvPr id="190864096" name="text-11">
            <a:extLst xmlns:a="http://schemas.openxmlformats.org/drawingml/2006/main">
              <a:ext uri="{FF2B5EF4-FFF2-40B4-BE49-F238E27FC236}">
                <a16:creationId xmlns:a16="http://schemas.microsoft.com/office/drawing/2014/main" id="{19988F65-75AE-410C-80AD-1A7B6BF46E7C}"/>
              </a:ext>
            </a:extLst>
          </p:cNvPr>
          <p:cNvSpPr>
            <a:spLocks xmlns:a="http://schemas.openxmlformats.org/drawingml/2006/main" noGrp="1"/>
          </p:cNvSpPr>
          <p:nvPr/>
        </p:nvSpPr>
        <p:spPr>
          <a:xfrm xmlns:a="http://schemas.openxmlformats.org/drawingml/2006/main">
            <a:off x="685800" y="5276850"/>
            <a:ext cx="6381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Materi, latihan inti, dan tes disusun</a:t>
            </a:r>
            <a:endParaRPr/>
          </a:p>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dalam alur yang jelas.</a:t>
            </a:r>
            <a:endParaRPr/>
          </a:p>
        </p:txBody>
      </p:sp>
      <p:pic>
        <p:nvPicPr>
          <p:cNvPr id="1677601793" name="Picture 1677601792">
            <a:extLst xmlns:a="http://schemas.openxmlformats.org/drawingml/2006/main">
              <a:ext uri="{FF2B5EF4-FFF2-40B4-BE49-F238E27FC236}">
                <a16:creationId xmlns:a16="http://schemas.microsoft.com/office/drawing/2014/main" id="{134E77C7-FAC5-4295-AD4D-1BA40E43204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c74b03a2bc54a37"/>
          <a:stretch xmlns:a="http://schemas.openxmlformats.org/drawingml/2006/main"/>
        </p:blipFill>
        <p:spPr>
          <a:xfrm xmlns:a="http://schemas.openxmlformats.org/drawingml/2006/main">
            <a:off x="8210550" y="3105626"/>
            <a:ext cx="3067050" cy="1380173"/>
          </a:xfrm>
          <a:prstGeom xmlns:a="http://schemas.openxmlformats.org/drawingml/2006/main" prst="rect">
            <a:avLst/>
          </a:prstGeom>
        </p:spPr>
      </p:pic>
    </p:spTree>
    <p:extLst>
      <p:ext uri="{BB962C8B-B14F-4D97-AF65-F5344CB8AC3E}">
        <p14:creationId xmlns:p14="http://schemas.microsoft.com/office/powerpoint/2010/main" val="1665109148"/>
      </p:ext>
    </p:extLst>
  </p:cSld>
</p:sld>
</file>

<file path=ppt/slides/slide3.xml><?xml version="1.0" encoding="utf-8"?>
<p:sld xmlns:p="http://schemas.openxmlformats.org/presentationml/2006/main">
  <p:cSld>
    <p:bg>
      <p:bgPr>
        <a:solidFill xmlns:a="http://schemas.openxmlformats.org/drawingml/2006/main">
          <a:srgbClr val="F8F7FC"/>
        </a:solidFill>
      </p:bgPr>
    </p:bg>
    <p:spTree>
      <p:nvGrpSpPr>
        <p:cNvPr id="1" name=""/>
        <p:cNvGrpSpPr/>
        <p:nvPr/>
      </p:nvGrpSpPr>
      <p:grpSpPr>
        <a:xfrm xmlns:a="http://schemas.openxmlformats.org/drawingml/2006/main"/>
      </p:grpSpPr>
      <p:sp>
        <p:nvSpPr>
          <p:cNvPr id="2074754533" name="text-12">
            <a:extLst xmlns:a="http://schemas.openxmlformats.org/drawingml/2006/main">
              <a:ext uri="{FF2B5EF4-FFF2-40B4-BE49-F238E27FC236}">
                <a16:creationId xmlns:a16="http://schemas.microsoft.com/office/drawing/2014/main" id="{C98AC829-D034-459D-B6CA-55A9B8774823}"/>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25223D"/>
                </a:solidFill>
                <a:latin typeface="Arial"/>
                <a:ea typeface="Arial"/>
                <a:cs typeface="Arial"/>
              </a:defRPr>
            </a:pPr>
            <a:r>
              <a:rPr sz="3450" b="1">
                <a:solidFill>
                  <a:srgbClr val="25223D"/>
                </a:solidFill>
                <a:latin typeface="Arial"/>
                <a:ea typeface="Arial"/>
                <a:cs typeface="Arial"/>
              </a:rPr>
              <a:t>Bagaimana cara belajarnya?</a:t>
            </a:r>
            <a:endParaRPr/>
          </a:p>
        </p:txBody>
      </p:sp>
      <p:sp>
        <p:nvSpPr>
          <p:cNvPr id="1428307299" name="text-13">
            <a:extLst xmlns:a="http://schemas.openxmlformats.org/drawingml/2006/main">
              <a:ext uri="{FF2B5EF4-FFF2-40B4-BE49-F238E27FC236}">
                <a16:creationId xmlns:a16="http://schemas.microsoft.com/office/drawing/2014/main" id="{7A992EF0-AAD3-417E-8CAC-2EB4D46C0E5B}"/>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00" b="0">
                <a:solidFill>
                  <a:srgbClr val="625E78"/>
                </a:solidFill>
                <a:latin typeface="Arial"/>
                <a:ea typeface="Arial"/>
                <a:cs typeface="Arial"/>
              </a:defRPr>
            </a:pPr>
            <a:r>
              <a:rPr sz="1300" b="0">
                <a:solidFill>
                  <a:srgbClr val="625E78"/>
                </a:solidFill>
                <a:latin typeface="Arial"/>
                <a:ea typeface="Arial"/>
                <a:cs typeface="Arial"/>
              </a:rPr>
              <a:t>03</a:t>
            </a:r>
            <a:endParaRPr/>
          </a:p>
        </p:txBody>
      </p:sp>
      <p:sp>
        <p:nvSpPr>
          <p:cNvPr id="1399572907" name="text-14">
            <a:extLst xmlns:a="http://schemas.openxmlformats.org/drawingml/2006/main">
              <a:ext uri="{FF2B5EF4-FFF2-40B4-BE49-F238E27FC236}">
                <a16:creationId xmlns:a16="http://schemas.microsoft.com/office/drawing/2014/main" id="{4DD981D3-B58F-4437-A344-16EEA578A4A2}"/>
              </a:ext>
            </a:extLst>
          </p:cNvPr>
          <p:cNvSpPr>
            <a:spLocks xmlns:a="http://schemas.openxmlformats.org/drawingml/2006/main" noGrp="1"/>
          </p:cNvSpPr>
          <p:nvPr/>
        </p:nvSpPr>
        <p:spPr>
          <a:xfrm xmlns:a="http://schemas.openxmlformats.org/drawingml/2006/main">
            <a:off x="685800" y="2000250"/>
            <a:ext cx="2238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700" b="1">
                <a:solidFill>
                  <a:srgbClr val="C56A25"/>
                </a:solidFill>
                <a:latin typeface="Arial"/>
                <a:ea typeface="Arial"/>
                <a:cs typeface="Arial"/>
              </a:defRPr>
            </a:pPr>
            <a:r>
              <a:rPr sz="3700" b="1">
                <a:solidFill>
                  <a:srgbClr val="C56A25"/>
                </a:solidFill>
                <a:latin typeface="Arial"/>
                <a:ea typeface="Arial"/>
                <a:cs typeface="Arial"/>
              </a:rPr>
              <a:t>01</a:t>
            </a:r>
            <a:endParaRPr/>
          </a:p>
        </p:txBody>
      </p:sp>
      <p:sp>
        <p:nvSpPr>
          <p:cNvPr id="544589203" name="text-15">
            <a:extLst xmlns:a="http://schemas.openxmlformats.org/drawingml/2006/main">
              <a:ext uri="{FF2B5EF4-FFF2-40B4-BE49-F238E27FC236}">
                <a16:creationId xmlns:a16="http://schemas.microsoft.com/office/drawing/2014/main" id="{42A3368A-E548-4838-AA16-0337E8BDD513}"/>
              </a:ext>
            </a:extLst>
          </p:cNvPr>
          <p:cNvSpPr>
            <a:spLocks xmlns:a="http://schemas.openxmlformats.org/drawingml/2006/main" noGrp="1"/>
          </p:cNvSpPr>
          <p:nvPr/>
        </p:nvSpPr>
        <p:spPr>
          <a:xfrm xmlns:a="http://schemas.openxmlformats.org/drawingml/2006/main">
            <a:off x="685800" y="283845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00" b="1">
                <a:solidFill>
                  <a:srgbClr val="25223D"/>
                </a:solidFill>
                <a:latin typeface="Arial"/>
                <a:ea typeface="Arial"/>
                <a:cs typeface="Arial"/>
              </a:defRPr>
            </a:pPr>
            <a:r>
              <a:rPr sz="2500" b="1">
                <a:solidFill>
                  <a:srgbClr val="25223D"/>
                </a:solidFill>
                <a:latin typeface="Arial"/>
                <a:ea typeface="Arial"/>
                <a:cs typeface="Arial"/>
              </a:rPr>
              <a:t>Materi</a:t>
            </a:r>
            <a:endParaRPr/>
          </a:p>
        </p:txBody>
      </p:sp>
      <p:sp>
        <p:nvSpPr>
          <p:cNvPr id="1898508515" name="text-16">
            <a:extLst xmlns:a="http://schemas.openxmlformats.org/drawingml/2006/main">
              <a:ext uri="{FF2B5EF4-FFF2-40B4-BE49-F238E27FC236}">
                <a16:creationId xmlns:a16="http://schemas.microsoft.com/office/drawing/2014/main" id="{E3007667-3D1B-4228-81A6-28AD1CA73CA5}"/>
              </a:ext>
            </a:extLst>
          </p:cNvPr>
          <p:cNvSpPr>
            <a:spLocks xmlns:a="http://schemas.openxmlformats.org/drawingml/2006/main" noGrp="1"/>
          </p:cNvSpPr>
          <p:nvPr/>
        </p:nvSpPr>
        <p:spPr>
          <a:xfrm xmlns:a="http://schemas.openxmlformats.org/drawingml/2006/main">
            <a:off x="685800" y="3543300"/>
            <a:ext cx="2333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Baca konsep; gunakan PDF</a:t>
            </a:r>
            <a:endParaRPr/>
          </a:p>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atau video yang tersedia.</a:t>
            </a:r>
          </a:p>
        </p:txBody>
      </p:sp>
      <p:sp>
        <p:nvSpPr>
          <p:cNvPr id="724190067" name="text-17">
            <a:extLst xmlns:a="http://schemas.openxmlformats.org/drawingml/2006/main">
              <a:ext uri="{FF2B5EF4-FFF2-40B4-BE49-F238E27FC236}">
                <a16:creationId xmlns:a16="http://schemas.microsoft.com/office/drawing/2014/main" id="{C6B0FFFD-FB00-46E6-88F0-D3F8C21981DD}"/>
              </a:ext>
            </a:extLst>
          </p:cNvPr>
          <p:cNvSpPr>
            <a:spLocks xmlns:a="http://schemas.openxmlformats.org/drawingml/2006/main" noGrp="1"/>
          </p:cNvSpPr>
          <p:nvPr/>
        </p:nvSpPr>
        <p:spPr>
          <a:xfrm xmlns:a="http://schemas.openxmlformats.org/drawingml/2006/main">
            <a:off x="3457575" y="2000250"/>
            <a:ext cx="2238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700" b="1">
                <a:solidFill>
                  <a:srgbClr val="C56A25"/>
                </a:solidFill>
                <a:latin typeface="Arial"/>
                <a:ea typeface="Arial"/>
                <a:cs typeface="Arial"/>
              </a:defRPr>
            </a:pPr>
            <a:r>
              <a:rPr sz="3700" b="1">
                <a:solidFill>
                  <a:srgbClr val="C56A25"/>
                </a:solidFill>
                <a:latin typeface="Arial"/>
                <a:ea typeface="Arial"/>
                <a:cs typeface="Arial"/>
              </a:rPr>
              <a:t>02</a:t>
            </a:r>
            <a:endParaRPr/>
          </a:p>
        </p:txBody>
      </p:sp>
      <p:sp>
        <p:nvSpPr>
          <p:cNvPr id="1288860252" name="text-18">
            <a:extLst xmlns:a="http://schemas.openxmlformats.org/drawingml/2006/main">
              <a:ext uri="{FF2B5EF4-FFF2-40B4-BE49-F238E27FC236}">
                <a16:creationId xmlns:a16="http://schemas.microsoft.com/office/drawing/2014/main" id="{104AF6FA-19D5-47A4-8E6A-C7D54FD4BD1F}"/>
              </a:ext>
            </a:extLst>
          </p:cNvPr>
          <p:cNvSpPr>
            <a:spLocks xmlns:a="http://schemas.openxmlformats.org/drawingml/2006/main" noGrp="1"/>
          </p:cNvSpPr>
          <p:nvPr/>
        </p:nvSpPr>
        <p:spPr>
          <a:xfrm xmlns:a="http://schemas.openxmlformats.org/drawingml/2006/main">
            <a:off x="3457575" y="283845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00" b="1">
                <a:solidFill>
                  <a:srgbClr val="25223D"/>
                </a:solidFill>
                <a:latin typeface="Arial"/>
                <a:ea typeface="Arial"/>
                <a:cs typeface="Arial"/>
              </a:defRPr>
            </a:pPr>
            <a:r>
              <a:rPr sz="2500" b="1">
                <a:solidFill>
                  <a:srgbClr val="25223D"/>
                </a:solidFill>
                <a:latin typeface="Arial"/>
                <a:ea typeface="Arial"/>
                <a:cs typeface="Arial"/>
              </a:rPr>
              <a:t>Lab inti</a:t>
            </a:r>
            <a:endParaRPr/>
          </a:p>
        </p:txBody>
      </p:sp>
      <p:sp>
        <p:nvSpPr>
          <p:cNvPr id="1455564480" name="text-19">
            <a:extLst xmlns:a="http://schemas.openxmlformats.org/drawingml/2006/main">
              <a:ext uri="{FF2B5EF4-FFF2-40B4-BE49-F238E27FC236}">
                <a16:creationId xmlns:a16="http://schemas.microsoft.com/office/drawing/2014/main" id="{1F2F926C-17B0-43BD-809C-52DCBF526D53}"/>
              </a:ext>
            </a:extLst>
          </p:cNvPr>
          <p:cNvSpPr>
            <a:spLocks xmlns:a="http://schemas.openxmlformats.org/drawingml/2006/main" noGrp="1"/>
          </p:cNvSpPr>
          <p:nvPr/>
        </p:nvSpPr>
        <p:spPr>
          <a:xfrm xmlns:a="http://schemas.openxmlformats.org/drawingml/2006/main">
            <a:off x="3457575" y="3543300"/>
            <a:ext cx="2333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Coba query, amati hasil,</a:t>
            </a:r>
            <a:endParaRPr/>
          </a:p>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lalu tuntaskan latihan.</a:t>
            </a:r>
          </a:p>
        </p:txBody>
      </p:sp>
      <p:sp>
        <p:nvSpPr>
          <p:cNvPr id="1598584534" name="text-20">
            <a:extLst xmlns:a="http://schemas.openxmlformats.org/drawingml/2006/main">
              <a:ext uri="{FF2B5EF4-FFF2-40B4-BE49-F238E27FC236}">
                <a16:creationId xmlns:a16="http://schemas.microsoft.com/office/drawing/2014/main" id="{1470E553-A71C-4C8E-B176-0F7F1F87A095}"/>
              </a:ext>
            </a:extLst>
          </p:cNvPr>
          <p:cNvSpPr>
            <a:spLocks xmlns:a="http://schemas.openxmlformats.org/drawingml/2006/main" noGrp="1"/>
          </p:cNvSpPr>
          <p:nvPr/>
        </p:nvSpPr>
        <p:spPr>
          <a:xfrm xmlns:a="http://schemas.openxmlformats.org/drawingml/2006/main">
            <a:off x="6229350" y="2000250"/>
            <a:ext cx="2238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700" b="1">
                <a:solidFill>
                  <a:srgbClr val="C56A25"/>
                </a:solidFill>
                <a:latin typeface="Arial"/>
                <a:ea typeface="Arial"/>
                <a:cs typeface="Arial"/>
              </a:defRPr>
            </a:pPr>
            <a:r>
              <a:rPr sz="3700" b="1">
                <a:solidFill>
                  <a:srgbClr val="C56A25"/>
                </a:solidFill>
                <a:latin typeface="Arial"/>
                <a:ea typeface="Arial"/>
                <a:cs typeface="Arial"/>
              </a:rPr>
              <a:t>03</a:t>
            </a:r>
            <a:endParaRPr/>
          </a:p>
        </p:txBody>
      </p:sp>
      <p:sp>
        <p:nvSpPr>
          <p:cNvPr id="870941715" name="text-21">
            <a:extLst xmlns:a="http://schemas.openxmlformats.org/drawingml/2006/main">
              <a:ext uri="{FF2B5EF4-FFF2-40B4-BE49-F238E27FC236}">
                <a16:creationId xmlns:a16="http://schemas.microsoft.com/office/drawing/2014/main" id="{9FFA458D-4A1A-495E-A5AA-55CB679AE082}"/>
              </a:ext>
            </a:extLst>
          </p:cNvPr>
          <p:cNvSpPr>
            <a:spLocks xmlns:a="http://schemas.openxmlformats.org/drawingml/2006/main" noGrp="1"/>
          </p:cNvSpPr>
          <p:nvPr/>
        </p:nvSpPr>
        <p:spPr>
          <a:xfrm xmlns:a="http://schemas.openxmlformats.org/drawingml/2006/main">
            <a:off x="6229350" y="2838450"/>
            <a:ext cx="2333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00" b="1">
                <a:solidFill>
                  <a:srgbClr val="25223D"/>
                </a:solidFill>
                <a:latin typeface="Arial"/>
                <a:ea typeface="Arial"/>
                <a:cs typeface="Arial"/>
              </a:defRPr>
            </a:pPr>
            <a:r>
              <a:rPr sz="2500" b="1">
                <a:solidFill>
                  <a:srgbClr val="25223D"/>
                </a:solidFill>
                <a:latin typeface="Arial"/>
                <a:ea typeface="Arial"/>
                <a:cs typeface="Arial"/>
              </a:rPr>
              <a:t>Lanjut materi</a:t>
            </a:r>
            <a:endParaRPr/>
          </a:p>
        </p:txBody>
      </p:sp>
      <p:sp>
        <p:nvSpPr>
          <p:cNvPr id="767338409" name="text-22">
            <a:extLst xmlns:a="http://schemas.openxmlformats.org/drawingml/2006/main">
              <a:ext uri="{FF2B5EF4-FFF2-40B4-BE49-F238E27FC236}">
                <a16:creationId xmlns:a16="http://schemas.microsoft.com/office/drawing/2014/main" id="{938F10B6-6838-4930-A761-6A170C14C53C}"/>
              </a:ext>
            </a:extLst>
          </p:cNvPr>
          <p:cNvSpPr>
            <a:spLocks xmlns:a="http://schemas.openxmlformats.org/drawingml/2006/main" noGrp="1"/>
          </p:cNvSpPr>
          <p:nvPr/>
        </p:nvSpPr>
        <p:spPr>
          <a:xfrm xmlns:a="http://schemas.openxmlformats.org/drawingml/2006/main">
            <a:off x="6229350" y="3543300"/>
            <a:ext cx="2333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Selesaikan Lab inti</a:t>
            </a:r>
            <a:endParaRPr/>
          </a:p>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untuk membuka materi</a:t>
            </a:r>
          </a:p>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berikutnya.</a:t>
            </a:r>
          </a:p>
        </p:txBody>
      </p:sp>
      <p:sp>
        <p:nvSpPr>
          <p:cNvPr id="1923936457" name="text-23">
            <a:extLst xmlns:a="http://schemas.openxmlformats.org/drawingml/2006/main">
              <a:ext uri="{FF2B5EF4-FFF2-40B4-BE49-F238E27FC236}">
                <a16:creationId xmlns:a16="http://schemas.microsoft.com/office/drawing/2014/main" id="{69918073-D245-4064-97E2-CC893C3E0470}"/>
              </a:ext>
            </a:extLst>
          </p:cNvPr>
          <p:cNvSpPr>
            <a:spLocks xmlns:a="http://schemas.openxmlformats.org/drawingml/2006/main" noGrp="1"/>
          </p:cNvSpPr>
          <p:nvPr/>
        </p:nvSpPr>
        <p:spPr>
          <a:xfrm xmlns:a="http://schemas.openxmlformats.org/drawingml/2006/main">
            <a:off x="9001125" y="2000250"/>
            <a:ext cx="2238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700" b="1">
                <a:solidFill>
                  <a:srgbClr val="C56A25"/>
                </a:solidFill>
                <a:latin typeface="Arial"/>
                <a:ea typeface="Arial"/>
                <a:cs typeface="Arial"/>
              </a:defRPr>
            </a:pPr>
            <a:r>
              <a:rPr sz="3700" b="1">
                <a:solidFill>
                  <a:srgbClr val="C56A25"/>
                </a:solidFill>
                <a:latin typeface="Arial"/>
                <a:ea typeface="Arial"/>
                <a:cs typeface="Arial"/>
              </a:rPr>
              <a:t>04</a:t>
            </a:r>
            <a:endParaRPr/>
          </a:p>
        </p:txBody>
      </p:sp>
      <p:sp>
        <p:nvSpPr>
          <p:cNvPr id="1652070099" name="text-24">
            <a:extLst xmlns:a="http://schemas.openxmlformats.org/drawingml/2006/main">
              <a:ext uri="{FF2B5EF4-FFF2-40B4-BE49-F238E27FC236}">
                <a16:creationId xmlns:a16="http://schemas.microsoft.com/office/drawing/2014/main" id="{80F9C4C7-E73E-4337-87B7-3A0D85B51FAE}"/>
              </a:ext>
            </a:extLst>
          </p:cNvPr>
          <p:cNvSpPr>
            <a:spLocks xmlns:a="http://schemas.openxmlformats.org/drawingml/2006/main" noGrp="1"/>
          </p:cNvSpPr>
          <p:nvPr/>
        </p:nvSpPr>
        <p:spPr>
          <a:xfrm xmlns:a="http://schemas.openxmlformats.org/drawingml/2006/main">
            <a:off x="9001125" y="2838450"/>
            <a:ext cx="2619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00" b="1">
                <a:solidFill>
                  <a:srgbClr val="25223D"/>
                </a:solidFill>
                <a:latin typeface="Arial"/>
                <a:ea typeface="Arial"/>
                <a:cs typeface="Arial"/>
              </a:defRPr>
            </a:pPr>
            <a:r>
              <a:rPr sz="2500" b="1">
                <a:solidFill>
                  <a:srgbClr val="25223D"/>
                </a:solidFill>
                <a:latin typeface="Arial"/>
                <a:ea typeface="Arial"/>
                <a:cs typeface="Arial"/>
              </a:rPr>
              <a:t>Tantangan Akhir</a:t>
            </a:r>
            <a:endParaRPr/>
          </a:p>
        </p:txBody>
      </p:sp>
      <p:sp>
        <p:nvSpPr>
          <p:cNvPr id="1221523697" name="text-25">
            <a:extLst xmlns:a="http://schemas.openxmlformats.org/drawingml/2006/main">
              <a:ext uri="{FF2B5EF4-FFF2-40B4-BE49-F238E27FC236}">
                <a16:creationId xmlns:a16="http://schemas.microsoft.com/office/drawing/2014/main" id="{C8C4D894-69AC-4E20-AB31-CA95994309D8}"/>
              </a:ext>
            </a:extLst>
          </p:cNvPr>
          <p:cNvSpPr>
            <a:spLocks xmlns:a="http://schemas.openxmlformats.org/drawingml/2006/main" noGrp="1"/>
          </p:cNvSpPr>
          <p:nvPr/>
        </p:nvSpPr>
        <p:spPr>
          <a:xfrm xmlns:a="http://schemas.openxmlformats.org/drawingml/2006/main">
            <a:off x="9001125" y="3543300"/>
            <a:ext cx="2333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Uji pemahaman konsep</a:t>
            </a:r>
            <a:endParaRPr/>
          </a:p>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dan kemampuan SQL.</a:t>
            </a:r>
            <a:endParaRPr/>
          </a:p>
        </p:txBody>
      </p:sp>
      <p:sp>
        <p:nvSpPr>
          <p:cNvPr id="716665665" name="text-26">
            <a:extLst xmlns:a="http://schemas.openxmlformats.org/drawingml/2006/main">
              <a:ext uri="{FF2B5EF4-FFF2-40B4-BE49-F238E27FC236}">
                <a16:creationId xmlns:a16="http://schemas.microsoft.com/office/drawing/2014/main" id="{F37B8CEC-1C8C-4441-A9A6-680C1775302C}"/>
              </a:ext>
            </a:extLst>
          </p:cNvPr>
          <p:cNvSpPr>
            <a:spLocks xmlns:a="http://schemas.openxmlformats.org/drawingml/2006/main" noGrp="1"/>
          </p:cNvSpPr>
          <p:nvPr/>
        </p:nvSpPr>
        <p:spPr>
          <a:xfrm xmlns:a="http://schemas.openxmlformats.org/drawingml/2006/main">
            <a:off x="685800" y="51625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4F46E5"/>
                </a:solidFill>
                <a:latin typeface="Arial"/>
                <a:ea typeface="Arial"/>
                <a:cs typeface="Arial"/>
              </a:defRPr>
            </a:pPr>
            <a:r>
              <a:rPr sz="2250" b="1">
                <a:solidFill>
                  <a:srgbClr val="4F46E5"/>
                </a:solidFill>
                <a:latin typeface="Arial"/>
                <a:ea typeface="Arial"/>
                <a:cs typeface="Arial"/>
              </a:rPr>
              <a:t>Materi + Lab inti diulang hingga seluruh materi selesai.</a:t>
            </a:r>
            <a:endParaRPr/>
          </a:p>
        </p:txBody>
      </p:sp>
      <p:sp>
        <p:nvSpPr>
          <p:cNvPr id="1421280154" name="text-27">
            <a:extLst xmlns:a="http://schemas.openxmlformats.org/drawingml/2006/main">
              <a:ext uri="{FF2B5EF4-FFF2-40B4-BE49-F238E27FC236}">
                <a16:creationId xmlns:a16="http://schemas.microsoft.com/office/drawing/2014/main" id="{3C69C5DB-72B0-4FA5-944C-EE14A91C109B}"/>
              </a:ext>
            </a:extLst>
          </p:cNvPr>
          <p:cNvSpPr>
            <a:spLocks xmlns:a="http://schemas.openxmlformats.org/drawingml/2006/main" noGrp="1"/>
          </p:cNvSpPr>
          <p:nvPr/>
        </p:nvSpPr>
        <p:spPr>
          <a:xfrm xmlns:a="http://schemas.openxmlformats.org/drawingml/2006/main">
            <a:off x="685800" y="57531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Pendamping: visualisasi 2D, Chatbot, Forum, dan SQLab dengan AI.</a:t>
            </a:r>
            <a:endParaRPr/>
          </a:p>
        </p:txBody>
      </p:sp>
    </p:spTree>
    <p:extLst>
      <p:ext uri="{BB962C8B-B14F-4D97-AF65-F5344CB8AC3E}">
        <p14:creationId xmlns:p14="http://schemas.microsoft.com/office/powerpoint/2010/main" val="136269756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5386018" name="text-28">
            <a:extLst xmlns:a="http://schemas.openxmlformats.org/drawingml/2006/main">
              <a:ext uri="{FF2B5EF4-FFF2-40B4-BE49-F238E27FC236}">
                <a16:creationId xmlns:a16="http://schemas.microsoft.com/office/drawing/2014/main" id="{051418EC-63CA-40B8-B6AD-FD073FAE6EDD}"/>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25223D"/>
                </a:solidFill>
                <a:latin typeface="Arial"/>
                <a:ea typeface="Arial"/>
                <a:cs typeface="Arial"/>
              </a:defRPr>
            </a:pPr>
            <a:r>
              <a:rPr sz="3450" b="1">
                <a:solidFill>
                  <a:srgbClr val="25223D"/>
                </a:solidFill>
                <a:latin typeface="Arial"/>
                <a:ea typeface="Arial"/>
                <a:cs typeface="Arial"/>
              </a:rPr>
              <a:t>Target pengguna</a:t>
            </a:r>
            <a:endParaRPr/>
          </a:p>
        </p:txBody>
      </p:sp>
      <p:sp>
        <p:nvSpPr>
          <p:cNvPr id="1384854499" name="text-29">
            <a:extLst xmlns:a="http://schemas.openxmlformats.org/drawingml/2006/main">
              <a:ext uri="{FF2B5EF4-FFF2-40B4-BE49-F238E27FC236}">
                <a16:creationId xmlns:a16="http://schemas.microsoft.com/office/drawing/2014/main" id="{904EDCEA-7DA2-464A-9E23-ADDEB884D326}"/>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00" b="0">
                <a:solidFill>
                  <a:srgbClr val="625E78"/>
                </a:solidFill>
                <a:latin typeface="Arial"/>
                <a:ea typeface="Arial"/>
                <a:cs typeface="Arial"/>
              </a:defRPr>
            </a:pPr>
            <a:r>
              <a:rPr sz="1300" b="0">
                <a:solidFill>
                  <a:srgbClr val="625E78"/>
                </a:solidFill>
                <a:latin typeface="Arial"/>
                <a:ea typeface="Arial"/>
                <a:cs typeface="Arial"/>
              </a:rPr>
              <a:t>04</a:t>
            </a:r>
            <a:endParaRPr/>
          </a:p>
        </p:txBody>
      </p:sp>
      <p:sp>
        <p:nvSpPr>
          <p:cNvPr id="1432188976" name="text-30">
            <a:extLst xmlns:a="http://schemas.openxmlformats.org/drawingml/2006/main">
              <a:ext uri="{FF2B5EF4-FFF2-40B4-BE49-F238E27FC236}">
                <a16:creationId xmlns:a16="http://schemas.microsoft.com/office/drawing/2014/main" id="{276FAADC-3D81-42A2-BC85-161D211DE5D0}"/>
              </a:ext>
            </a:extLst>
          </p:cNvPr>
          <p:cNvSpPr>
            <a:spLocks xmlns:a="http://schemas.openxmlformats.org/drawingml/2006/main" noGrp="1"/>
          </p:cNvSpPr>
          <p:nvPr/>
        </p:nvSpPr>
        <p:spPr>
          <a:xfrm xmlns:a="http://schemas.openxmlformats.org/drawingml/2006/main">
            <a:off x="685800" y="1847850"/>
            <a:ext cx="728662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700" b="1">
                <a:solidFill>
                  <a:srgbClr val="4F46E5"/>
                </a:solidFill>
                <a:latin typeface="Arial"/>
                <a:ea typeface="Arial"/>
                <a:cs typeface="Arial"/>
              </a:defRPr>
            </a:pPr>
            <a:r>
              <a:rPr sz="3700" b="1">
                <a:solidFill>
                  <a:srgbClr val="4F46E5"/>
                </a:solidFill>
                <a:latin typeface="Arial"/>
                <a:ea typeface="Arial"/>
                <a:cs typeface="Arial"/>
              </a:rPr>
              <a:t>Mahasiswa Informatika</a:t>
            </a:r>
            <a:endParaRPr/>
          </a:p>
          <a:p xmlns:a="http://schemas.openxmlformats.org/drawingml/2006/main">
            <a:pPr>
              <a:buNone/>
              <a:defRPr sz="3700" b="1">
                <a:solidFill>
                  <a:srgbClr val="4F46E5"/>
                </a:solidFill>
                <a:latin typeface="Arial"/>
                <a:ea typeface="Arial"/>
                <a:cs typeface="Arial"/>
              </a:defRPr>
            </a:pPr>
            <a:r>
              <a:rPr sz="3700" b="1">
                <a:solidFill>
                  <a:srgbClr val="4F46E5"/>
                </a:solidFill>
                <a:latin typeface="Arial"/>
                <a:ea typeface="Arial"/>
                <a:cs typeface="Arial"/>
              </a:rPr>
              <a:t>semester awal</a:t>
            </a:r>
          </a:p>
        </p:txBody>
      </p:sp>
      <p:sp>
        <p:nvSpPr>
          <p:cNvPr id="1900685883" name="text-31">
            <a:extLst xmlns:a="http://schemas.openxmlformats.org/drawingml/2006/main">
              <a:ext uri="{FF2B5EF4-FFF2-40B4-BE49-F238E27FC236}">
                <a16:creationId xmlns:a16="http://schemas.microsoft.com/office/drawing/2014/main" id="{41B19056-DA49-4DD1-AA36-F09017ADF7C0}"/>
              </a:ext>
            </a:extLst>
          </p:cNvPr>
          <p:cNvSpPr>
            <a:spLocks xmlns:a="http://schemas.openxmlformats.org/drawingml/2006/main" noGrp="1"/>
          </p:cNvSpPr>
          <p:nvPr/>
        </p:nvSpPr>
        <p:spPr>
          <a:xfrm xmlns:a="http://schemas.openxmlformats.org/drawingml/2006/main">
            <a:off x="685800" y="3543300"/>
            <a:ext cx="6762750" cy="59054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25223D"/>
                </a:solidFill>
                <a:latin typeface="Arial"/>
                <a:ea typeface="Arial"/>
                <a:cs typeface="Arial"/>
              </a:defRPr>
            </a:pPr>
            <a:r>
              <a:rPr sz="2250" b="1">
                <a:solidFill>
                  <a:srgbClr val="25223D"/>
                </a:solidFill>
                <a:latin typeface="Arial"/>
                <a:ea typeface="Arial"/>
                <a:cs typeface="Arial"/>
              </a:rPr>
              <a:t>Baru mengenal basis data dan SQL.</a:t>
            </a:r>
            <a:endParaRPr/>
          </a:p>
        </p:txBody>
      </p:sp>
      <p:sp>
        <p:nvSpPr>
          <p:cNvPr id="1131868492" name="text-32">
            <a:extLst xmlns:a="http://schemas.openxmlformats.org/drawingml/2006/main">
              <a:ext uri="{FF2B5EF4-FFF2-40B4-BE49-F238E27FC236}">
                <a16:creationId xmlns:a16="http://schemas.microsoft.com/office/drawing/2014/main" id="{AC3062D3-5B90-4186-AB27-A6E4B23B3E7E}"/>
              </a:ext>
            </a:extLst>
          </p:cNvPr>
          <p:cNvSpPr>
            <a:spLocks xmlns:a="http://schemas.openxmlformats.org/drawingml/2006/main" noGrp="1"/>
          </p:cNvSpPr>
          <p:nvPr/>
        </p:nvSpPr>
        <p:spPr>
          <a:xfrm xmlns:a="http://schemas.openxmlformats.org/drawingml/2006/main">
            <a:off x="685800" y="4448175"/>
            <a:ext cx="71437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00" b="0">
                <a:solidFill>
                  <a:srgbClr val="625E78"/>
                </a:solidFill>
                <a:latin typeface="Arial"/>
                <a:ea typeface="Arial"/>
                <a:cs typeface="Arial"/>
              </a:defRPr>
            </a:pPr>
            <a:r>
              <a:rPr sz="2200" b="0">
                <a:solidFill>
                  <a:srgbClr val="625E78"/>
                </a:solidFill>
                <a:latin typeface="Arial"/>
                <a:ea typeface="Arial"/>
                <a:cs typeface="Arial"/>
              </a:rPr>
              <a:t>Belajar mandiri atau sebagai pendamping</a:t>
            </a:r>
            <a:endParaRPr/>
          </a:p>
          <a:p xmlns:a="http://schemas.openxmlformats.org/drawingml/2006/main">
            <a:pPr>
              <a:buNone/>
              <a:defRPr sz="2200" b="0">
                <a:solidFill>
                  <a:srgbClr val="625E78"/>
                </a:solidFill>
                <a:latin typeface="Arial"/>
                <a:ea typeface="Arial"/>
                <a:cs typeface="Arial"/>
              </a:defRPr>
            </a:pPr>
            <a:r>
              <a:rPr sz="2200" b="0">
                <a:solidFill>
                  <a:srgbClr val="625E78"/>
                </a:solidFill>
                <a:latin typeface="Arial"/>
                <a:ea typeface="Arial"/>
                <a:cs typeface="Arial"/>
              </a:rPr>
              <a:t>pembelajaran basis data di kelas.</a:t>
            </a:r>
            <a:endParaRPr/>
          </a:p>
        </p:txBody>
      </p:sp>
      <p:sp>
        <p:nvSpPr>
          <p:cNvPr id="1746047366" name="text-33">
            <a:extLst xmlns:a="http://schemas.openxmlformats.org/drawingml/2006/main">
              <a:ext uri="{FF2B5EF4-FFF2-40B4-BE49-F238E27FC236}">
                <a16:creationId xmlns:a16="http://schemas.microsoft.com/office/drawing/2014/main" id="{BB42263A-E3F6-4CE9-881E-C078E5D3EFF8}"/>
              </a:ext>
            </a:extLst>
          </p:cNvPr>
          <p:cNvSpPr>
            <a:spLocks xmlns:a="http://schemas.openxmlformats.org/drawingml/2006/main" noGrp="1"/>
          </p:cNvSpPr>
          <p:nvPr/>
        </p:nvSpPr>
        <p:spPr>
          <a:xfrm xmlns:a="http://schemas.openxmlformats.org/drawingml/2006/main">
            <a:off x="685800" y="5734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625E78"/>
                </a:solidFill>
                <a:latin typeface="Arial"/>
                <a:ea typeface="Arial"/>
                <a:cs typeface="Arial"/>
              </a:defRPr>
            </a:pPr>
            <a:r>
              <a:rPr sz="1950" b="0">
                <a:solidFill>
                  <a:srgbClr val="625E78"/>
                </a:solidFill>
                <a:latin typeface="Arial"/>
                <a:ea typeface="Arial"/>
                <a:cs typeface="Arial"/>
              </a:rPr>
              <a:t>Dapat diakses melalui ponsel dan laptop.</a:t>
            </a:r>
            <a:endParaRPr/>
          </a:p>
        </p:txBody>
      </p:sp>
      <p:pic>
        <p:nvPicPr>
          <p:cNvPr id="1724217257" name="Picture 1724217256">
            <a:extLst xmlns:a="http://schemas.openxmlformats.org/drawingml/2006/main">
              <a:ext uri="{FF2B5EF4-FFF2-40B4-BE49-F238E27FC236}">
                <a16:creationId xmlns:a16="http://schemas.microsoft.com/office/drawing/2014/main" id="{5766E6F3-67D8-4140-B2A6-B7DA42F68CE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87e696eb00b4fc7"/>
          <a:stretch xmlns:a="http://schemas.openxmlformats.org/drawingml/2006/main"/>
        </p:blipFill>
        <p:spPr>
          <a:xfrm xmlns:a="http://schemas.openxmlformats.org/drawingml/2006/main">
            <a:off x="9058125" y="1657350"/>
            <a:ext cx="1800525" cy="4286250"/>
          </a:xfrm>
          <a:prstGeom xmlns:a="http://schemas.openxmlformats.org/drawingml/2006/main" prst="rect">
            <a:avLst/>
          </a:prstGeom>
        </p:spPr>
      </p:pic>
    </p:spTree>
    <p:extLst>
      <p:ext uri="{BB962C8B-B14F-4D97-AF65-F5344CB8AC3E}">
        <p14:creationId xmlns:p14="http://schemas.microsoft.com/office/powerpoint/2010/main" val="694503990"/>
      </p:ext>
    </p:extLst>
  </p:cSld>
</p:sld>
</file>

<file path=ppt/slides/slide5.xml><?xml version="1.0" encoding="utf-8"?>
<p:sld xmlns:p="http://schemas.openxmlformats.org/presentationml/2006/main">
  <p:cSld>
    <p:bg>
      <p:bgPr>
        <a:solidFill xmlns:a="http://schemas.openxmlformats.org/drawingml/2006/main">
          <a:srgbClr val="FFF0E3"/>
        </a:solidFill>
      </p:bgPr>
    </p:bg>
    <p:spTree>
      <p:nvGrpSpPr>
        <p:cNvPr id="1" name=""/>
        <p:cNvGrpSpPr/>
        <p:nvPr/>
      </p:nvGrpSpPr>
      <p:grpSpPr>
        <a:xfrm xmlns:a="http://schemas.openxmlformats.org/drawingml/2006/main"/>
      </p:grpSpPr>
      <p:sp>
        <p:nvSpPr>
          <p:cNvPr id="239998391" name="text-34">
            <a:extLst xmlns:a="http://schemas.openxmlformats.org/drawingml/2006/main">
              <a:ext uri="{FF2B5EF4-FFF2-40B4-BE49-F238E27FC236}">
                <a16:creationId xmlns:a16="http://schemas.microsoft.com/office/drawing/2014/main" id="{9E7E4757-D939-405D-BFA5-43D4E45E730C}"/>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25223D"/>
                </a:solidFill>
                <a:latin typeface="Arial"/>
                <a:ea typeface="Arial"/>
                <a:cs typeface="Arial"/>
              </a:defRPr>
            </a:pPr>
            <a:r>
              <a:rPr sz="3450" b="1">
                <a:solidFill>
                  <a:srgbClr val="25223D"/>
                </a:solidFill>
                <a:latin typeface="Arial"/>
                <a:ea typeface="Arial"/>
                <a:cs typeface="Arial"/>
              </a:rPr>
              <a:t>Tujuan pembelajaran</a:t>
            </a:r>
            <a:endParaRPr/>
          </a:p>
        </p:txBody>
      </p:sp>
      <p:sp>
        <p:nvSpPr>
          <p:cNvPr id="994212052" name="text-35">
            <a:extLst xmlns:a="http://schemas.openxmlformats.org/drawingml/2006/main">
              <a:ext uri="{FF2B5EF4-FFF2-40B4-BE49-F238E27FC236}">
                <a16:creationId xmlns:a16="http://schemas.microsoft.com/office/drawing/2014/main" id="{27B69311-A9C8-40A5-9AEC-126ED9EE6C14}"/>
              </a:ext>
            </a:extLst>
          </p:cNvPr>
          <p:cNvSpPr>
            <a:spLocks xmlns:a="http://schemas.openxmlformats.org/drawingml/2006/main" noGrp="1"/>
          </p:cNvSpPr>
          <p:nvPr/>
        </p:nvSpPr>
        <p:spPr>
          <a:xfrm xmlns:a="http://schemas.openxmlformats.org/drawingml/2006/main">
            <a:off x="11049000" y="63341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00" b="0">
                <a:solidFill>
                  <a:srgbClr val="625E78"/>
                </a:solidFill>
                <a:latin typeface="Arial"/>
                <a:ea typeface="Arial"/>
                <a:cs typeface="Arial"/>
              </a:defRPr>
            </a:pPr>
            <a:r>
              <a:rPr sz="1300" b="0">
                <a:solidFill>
                  <a:srgbClr val="625E78"/>
                </a:solidFill>
                <a:latin typeface="Arial"/>
                <a:ea typeface="Arial"/>
                <a:cs typeface="Arial"/>
              </a:rPr>
              <a:t>05</a:t>
            </a:r>
            <a:endParaRPr/>
          </a:p>
        </p:txBody>
      </p:sp>
      <p:sp>
        <p:nvSpPr>
          <p:cNvPr id="385044678" name="text-36">
            <a:extLst xmlns:a="http://schemas.openxmlformats.org/drawingml/2006/main">
              <a:ext uri="{FF2B5EF4-FFF2-40B4-BE49-F238E27FC236}">
                <a16:creationId xmlns:a16="http://schemas.microsoft.com/office/drawing/2014/main" id="{A848E2F7-D313-4BA6-B49F-1C40EB9CA351}"/>
              </a:ext>
            </a:extLst>
          </p:cNvPr>
          <p:cNvSpPr>
            <a:spLocks xmlns:a="http://schemas.openxmlformats.org/drawingml/2006/main" noGrp="1"/>
          </p:cNvSpPr>
          <p:nvPr/>
        </p:nvSpPr>
        <p:spPr>
          <a:xfrm xmlns:a="http://schemas.openxmlformats.org/drawingml/2006/main">
            <a:off x="685800" y="179070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00" b="1">
                <a:solidFill>
                  <a:srgbClr val="25223D"/>
                </a:solidFill>
                <a:latin typeface="Arial"/>
                <a:ea typeface="Arial"/>
                <a:cs typeface="Arial"/>
              </a:defRPr>
            </a:pPr>
            <a:r>
              <a:rPr sz="2200" b="1">
                <a:solidFill>
                  <a:srgbClr val="25223D"/>
                </a:solidFill>
                <a:latin typeface="Arial"/>
                <a:ea typeface="Arial"/>
                <a:cs typeface="Arial"/>
              </a:rPr>
              <a:t>Memahami struktur dan relasi</a:t>
            </a:r>
            <a:endParaRPr/>
          </a:p>
        </p:txBody>
      </p:sp>
      <p:sp>
        <p:nvSpPr>
          <p:cNvPr id="484897652" name="text-37">
            <a:extLst xmlns:a="http://schemas.openxmlformats.org/drawingml/2006/main">
              <a:ext uri="{FF2B5EF4-FFF2-40B4-BE49-F238E27FC236}">
                <a16:creationId xmlns:a16="http://schemas.microsoft.com/office/drawing/2014/main" id="{ACBB1C5D-FD3F-4C42-A8E6-D2026F9DE3C0}"/>
              </a:ext>
            </a:extLst>
          </p:cNvPr>
          <p:cNvSpPr>
            <a:spLocks xmlns:a="http://schemas.openxmlformats.org/drawingml/2006/main" noGrp="1"/>
          </p:cNvSpPr>
          <p:nvPr/>
        </p:nvSpPr>
        <p:spPr>
          <a:xfrm xmlns:a="http://schemas.openxmlformats.org/drawingml/2006/main">
            <a:off x="685800" y="22098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Mengenali tabel, primary key, foreign key, dan hubungan data.</a:t>
            </a:r>
            <a:endParaRPr/>
          </a:p>
        </p:txBody>
      </p:sp>
      <p:sp>
        <p:nvSpPr>
          <p:cNvPr id="2040322314" name="text-38">
            <a:extLst xmlns:a="http://schemas.openxmlformats.org/drawingml/2006/main">
              <a:ext uri="{FF2B5EF4-FFF2-40B4-BE49-F238E27FC236}">
                <a16:creationId xmlns:a16="http://schemas.microsoft.com/office/drawing/2014/main" id="{C7E92E10-49D2-4D5E-9A83-2ABEEF398EF0}"/>
              </a:ext>
            </a:extLst>
          </p:cNvPr>
          <p:cNvSpPr>
            <a:spLocks xmlns:a="http://schemas.openxmlformats.org/drawingml/2006/main" noGrp="1"/>
          </p:cNvSpPr>
          <p:nvPr/>
        </p:nvSpPr>
        <p:spPr>
          <a:xfrm xmlns:a="http://schemas.openxmlformats.org/drawingml/2006/main">
            <a:off x="685800" y="314325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00" b="1">
                <a:solidFill>
                  <a:srgbClr val="25223D"/>
                </a:solidFill>
                <a:latin typeface="Arial"/>
                <a:ea typeface="Arial"/>
                <a:cs typeface="Arial"/>
              </a:defRPr>
            </a:pPr>
            <a:r>
              <a:rPr sz="2200" b="1">
                <a:solidFill>
                  <a:srgbClr val="25223D"/>
                </a:solidFill>
                <a:latin typeface="Arial"/>
                <a:ea typeface="Arial"/>
                <a:cs typeface="Arial"/>
              </a:rPr>
              <a:t>Menulis dan menjelaskan query</a:t>
            </a:r>
            <a:endParaRPr/>
          </a:p>
        </p:txBody>
      </p:sp>
      <p:sp>
        <p:nvSpPr>
          <p:cNvPr id="1856800625" name="text-39">
            <a:extLst xmlns:a="http://schemas.openxmlformats.org/drawingml/2006/main">
              <a:ext uri="{FF2B5EF4-FFF2-40B4-BE49-F238E27FC236}">
                <a16:creationId xmlns:a16="http://schemas.microsoft.com/office/drawing/2014/main" id="{55D47F8F-854E-438D-84E6-BED7DE534977}"/>
              </a:ext>
            </a:extLst>
          </p:cNvPr>
          <p:cNvSpPr>
            <a:spLocks xmlns:a="http://schemas.openxmlformats.org/drawingml/2006/main" noGrp="1"/>
          </p:cNvSpPr>
          <p:nvPr/>
        </p:nvSpPr>
        <p:spPr>
          <a:xfrm xmlns:a="http://schemas.openxmlformats.org/drawingml/2006/main">
            <a:off x="685800" y="356235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Membaca data, menggabungkan tabel, dan memahami hasilnya.</a:t>
            </a:r>
            <a:endParaRPr/>
          </a:p>
        </p:txBody>
      </p:sp>
      <p:sp>
        <p:nvSpPr>
          <p:cNvPr id="1085586160" name="text-40">
            <a:extLst xmlns:a="http://schemas.openxmlformats.org/drawingml/2006/main">
              <a:ext uri="{FF2B5EF4-FFF2-40B4-BE49-F238E27FC236}">
                <a16:creationId xmlns:a16="http://schemas.microsoft.com/office/drawing/2014/main" id="{B4686D9E-450E-47DA-8763-207E08BA4E51}"/>
              </a:ext>
            </a:extLst>
          </p:cNvPr>
          <p:cNvSpPr>
            <a:spLocks xmlns:a="http://schemas.openxmlformats.org/drawingml/2006/main" noGrp="1"/>
          </p:cNvSpPr>
          <p:nvPr/>
        </p:nvSpPr>
        <p:spPr>
          <a:xfrm xmlns:a="http://schemas.openxmlformats.org/drawingml/2006/main">
            <a:off x="685800" y="4495800"/>
            <a:ext cx="1074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00" b="1">
                <a:solidFill>
                  <a:srgbClr val="25223D"/>
                </a:solidFill>
                <a:latin typeface="Arial"/>
                <a:ea typeface="Arial"/>
                <a:cs typeface="Arial"/>
              </a:defRPr>
            </a:pPr>
            <a:r>
              <a:rPr sz="2200" b="1">
                <a:solidFill>
                  <a:srgbClr val="25223D"/>
                </a:solidFill>
                <a:latin typeface="Arial"/>
                <a:ea typeface="Arial"/>
                <a:cs typeface="Arial"/>
              </a:rPr>
              <a:t>Mengubah data secara aman</a:t>
            </a:r>
            <a:endParaRPr/>
          </a:p>
        </p:txBody>
      </p:sp>
      <p:sp>
        <p:nvSpPr>
          <p:cNvPr id="1341716440" name="text-41">
            <a:extLst xmlns:a="http://schemas.openxmlformats.org/drawingml/2006/main">
              <a:ext uri="{FF2B5EF4-FFF2-40B4-BE49-F238E27FC236}">
                <a16:creationId xmlns:a16="http://schemas.microsoft.com/office/drawing/2014/main" id="{284B3A76-08F2-4227-A239-5C9667886185}"/>
              </a:ext>
            </a:extLst>
          </p:cNvPr>
          <p:cNvSpPr>
            <a:spLocks xmlns:a="http://schemas.openxmlformats.org/drawingml/2006/main" noGrp="1"/>
          </p:cNvSpPr>
          <p:nvPr/>
        </p:nvSpPr>
        <p:spPr>
          <a:xfrm xmlns:a="http://schemas.openxmlformats.org/drawingml/2006/main">
            <a:off x="685800" y="4914900"/>
            <a:ext cx="10744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00" b="0">
                <a:solidFill>
                  <a:srgbClr val="625E78"/>
                </a:solidFill>
                <a:latin typeface="Arial"/>
                <a:ea typeface="Arial"/>
                <a:cs typeface="Arial"/>
              </a:defRPr>
            </a:pPr>
            <a:r>
              <a:rPr sz="1900" b="0">
                <a:solidFill>
                  <a:srgbClr val="625E78"/>
                </a:solidFill>
                <a:latin typeface="Arial"/>
                <a:ea typeface="Arial"/>
                <a:cs typeface="Arial"/>
              </a:rPr>
              <a:t>Memeriksa target sebelum INSERT, UPDATE, atau DELETE.</a:t>
            </a:r>
            <a:endParaRPr/>
          </a:p>
        </p:txBody>
      </p:sp>
      <p:sp>
        <p:nvSpPr>
          <p:cNvPr id="1097418707" name="text-42">
            <a:extLst xmlns:a="http://schemas.openxmlformats.org/drawingml/2006/main">
              <a:ext uri="{FF2B5EF4-FFF2-40B4-BE49-F238E27FC236}">
                <a16:creationId xmlns:a16="http://schemas.microsoft.com/office/drawing/2014/main" id="{E778B598-146B-4BEE-8DD8-30CFDFFA9DB6}"/>
              </a:ext>
            </a:extLst>
          </p:cNvPr>
          <p:cNvSpPr>
            <a:spLocks xmlns:a="http://schemas.openxmlformats.org/drawingml/2006/main" noGrp="1"/>
          </p:cNvSpPr>
          <p:nvPr/>
        </p:nvSpPr>
        <p:spPr>
          <a:xfrm xmlns:a="http://schemas.openxmlformats.org/drawingml/2006/main">
            <a:off x="685800" y="5915025"/>
            <a:ext cx="10744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4F46E5"/>
                </a:solidFill>
                <a:latin typeface="Arial"/>
                <a:ea typeface="Arial"/>
                <a:cs typeface="Arial"/>
              </a:defRPr>
            </a:pPr>
            <a:r>
              <a:rPr sz="2100" b="1">
                <a:solidFill>
                  <a:srgbClr val="4F46E5"/>
                </a:solidFill>
                <a:latin typeface="Arial"/>
                <a:ea typeface="Arial"/>
                <a:cs typeface="Arial"/>
              </a:rPr>
              <a:t>Pemahaman diuji melalui latihan inti dan Tantangan Akhir.</a:t>
            </a:r>
            <a:endParaRPr/>
          </a:p>
        </p:txBody>
      </p:sp>
    </p:spTree>
    <p:extLst>
      <p:ext uri="{BB962C8B-B14F-4D97-AF65-F5344CB8AC3E}">
        <p14:creationId xmlns:p14="http://schemas.microsoft.com/office/powerpoint/2010/main" val="148494572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3E7D541-6237-C4FA-8F66-5A351507A130}"/>
              </a:ext>
            </a:extLst>
          </p:cNvPr>
          <p:cNvSpPr>
            <a:spLocks xmlns:a="http://schemas.openxmlformats.org/drawingml/2006/main" noGrp="1"/>
          </p:cNvSpPr>
          <p:nvPr/>
        </p:nvSpPr>
        <p:spPr>
          <a:xfrm xmlns:a="http://schemas.openxmlformats.org/drawingml/2006/main">
            <a:off x="2514600" y="2667000"/>
            <a:ext cx="7010400" cy="110799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6600">
                <a:latin typeface="Times New Roman"/>
                <a:ea typeface="Times New Roman"/>
                <a:cs typeface="Times New Roman"/>
              </a:rPr>
              <a:t>Masukan dan saran</a:t>
            </a:r>
            <a:endParaRPr sz="6600">
              <a:latin typeface="Times New Roman"/>
              <a:ea typeface="Times New Roman"/>
              <a:cs typeface="Times New Roman"/>
            </a:endParaRPr>
          </a:p>
        </p:txBody>
      </p:sp>
    </p:spTree>
    <p:extLst>
      <p:ext uri="{BB962C8B-B14F-4D97-AF65-F5344CB8AC3E}">
        <p14:creationId xmlns:p14="http://schemas.microsoft.com/office/powerpoint/2010/main" val="34764729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2026-10-08T06:43:05.6170000Z</dcterms:created>
  <dcterms:modified xsi:type="dcterms:W3CDTF">2026-10-08T06:43:05.6170000Z</dcterms:modified>
</coreProperties>
</file>